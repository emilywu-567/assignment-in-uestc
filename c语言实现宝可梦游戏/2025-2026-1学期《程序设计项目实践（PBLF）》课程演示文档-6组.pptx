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1" r:id="rId2"/>
    <p:sldId id="353" r:id="rId3"/>
    <p:sldId id="354" r:id="rId4"/>
    <p:sldId id="355" r:id="rId5"/>
    <p:sldId id="340" r:id="rId6"/>
    <p:sldId id="338" r:id="rId7"/>
    <p:sldId id="337" r:id="rId8"/>
    <p:sldId id="356" r:id="rId9"/>
    <p:sldId id="345" r:id="rId10"/>
    <p:sldId id="348" r:id="rId11"/>
    <p:sldId id="366" r:id="rId12"/>
    <p:sldId id="347" r:id="rId13"/>
    <p:sldId id="365" r:id="rId14"/>
    <p:sldId id="364" r:id="rId15"/>
    <p:sldId id="367" r:id="rId16"/>
    <p:sldId id="368" r:id="rId17"/>
    <p:sldId id="369" r:id="rId18"/>
    <p:sldId id="370" r:id="rId19"/>
    <p:sldId id="357" r:id="rId20"/>
    <p:sldId id="36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A6"/>
    <a:srgbClr val="032D7A"/>
    <a:srgbClr val="010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0" d="100"/>
          <a:sy n="50" d="100"/>
        </p:scale>
        <p:origin x="317" y="43"/>
      </p:cViewPr>
      <p:guideLst>
        <p:guide orient="horz" pos="217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DFB37-0A68-4D6F-A587-2C8817D34463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584FB-8B60-409F-BA0E-7B18B3AC0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image" Target="../media/image3.png"/><Relationship Id="rId3" Type="http://schemas.openxmlformats.org/officeDocument/2006/relationships/tags" Target="../tags/tag9.xml"/><Relationship Id="rId21" Type="http://schemas.openxmlformats.org/officeDocument/2006/relationships/image" Target="../media/image6.svg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image" Target="../media/image2.jpeg"/><Relationship Id="rId2" Type="http://schemas.openxmlformats.org/officeDocument/2006/relationships/tags" Target="../tags/tag8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5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10" Type="http://schemas.openxmlformats.org/officeDocument/2006/relationships/tags" Target="../tags/tag16.xml"/><Relationship Id="rId19" Type="http://schemas.openxmlformats.org/officeDocument/2006/relationships/image" Target="../media/image4.svg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18" Type="http://schemas.openxmlformats.org/officeDocument/2006/relationships/tags" Target="../tags/tag5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tags" Target="../tags/tag56.xml"/><Relationship Id="rId2" Type="http://schemas.openxmlformats.org/officeDocument/2006/relationships/tags" Target="../tags/tag41.xml"/><Relationship Id="rId16" Type="http://schemas.openxmlformats.org/officeDocument/2006/relationships/tags" Target="../tags/tag55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tags" Target="../tags/tag54.xml"/><Relationship Id="rId10" Type="http://schemas.openxmlformats.org/officeDocument/2006/relationships/tags" Target="../tags/tag49.xml"/><Relationship Id="rId19" Type="http://schemas.openxmlformats.org/officeDocument/2006/relationships/tags" Target="../tags/tag58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tags" Target="../tags/tag5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r="116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5000"/>
                </a:schemeClr>
              </a:gs>
              <a:gs pos="86000">
                <a:schemeClr val="tx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-182880" y="1988752"/>
            <a:ext cx="12374880" cy="2501122"/>
            <a:chOff x="0" y="2108132"/>
            <a:chExt cx="12374880" cy="2501122"/>
          </a:xfrm>
        </p:grpSpPr>
        <p:sp>
          <p:nvSpPr>
            <p:cNvPr id="2" name="矩形: 圆角 1"/>
            <p:cNvSpPr/>
            <p:nvPr/>
          </p:nvSpPr>
          <p:spPr>
            <a:xfrm>
              <a:off x="182880" y="2108132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</a:rPr>
                <a:t>宝可梦小游戏</a:t>
              </a:r>
              <a:endParaRPr lang="en-US" altLang="zh-CN" sz="7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endParaRPr>
            </a:p>
            <a:p>
              <a:pPr algn="ctr"/>
              <a:r>
                <a:rPr lang="zh-CN" altLang="en-US" sz="7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</a:rPr>
                <a:t>游戏设计与软件实现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: 圆角 9"/>
          <p:cNvSpPr/>
          <p:nvPr/>
        </p:nvSpPr>
        <p:spPr>
          <a:xfrm>
            <a:off x="6725285" y="5092700"/>
            <a:ext cx="2866390" cy="830580"/>
          </a:xfrm>
          <a:prstGeom prst="roundRect">
            <a:avLst>
              <a:gd name="adj" fmla="val 50000"/>
            </a:avLst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sym typeface="+mn-ea"/>
              </a:rPr>
              <a:t>指导教师：夏金祥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sp>
        <p:nvSpPr>
          <p:cNvPr id="11" name="Freeform 5"/>
          <p:cNvSpPr/>
          <p:nvPr/>
        </p:nvSpPr>
        <p:spPr>
          <a:xfrm>
            <a:off x="4996932" y="474156"/>
            <a:ext cx="2198136" cy="12782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78" y="16267"/>
                </a:moveTo>
                <a:cubicBezTo>
                  <a:pt x="20978" y="15467"/>
                  <a:pt x="20823" y="14933"/>
                  <a:pt x="20357" y="14933"/>
                </a:cubicBezTo>
                <a:cubicBezTo>
                  <a:pt x="20357" y="7200"/>
                  <a:pt x="20357" y="7200"/>
                  <a:pt x="20357" y="7200"/>
                </a:cubicBezTo>
                <a:cubicBezTo>
                  <a:pt x="21600" y="6400"/>
                  <a:pt x="21600" y="6400"/>
                  <a:pt x="21600" y="6400"/>
                </a:cubicBezTo>
                <a:cubicBezTo>
                  <a:pt x="10878" y="0"/>
                  <a:pt x="10878" y="0"/>
                  <a:pt x="10878" y="0"/>
                </a:cubicBezTo>
                <a:cubicBezTo>
                  <a:pt x="0" y="6400"/>
                  <a:pt x="0" y="6400"/>
                  <a:pt x="0" y="6400"/>
                </a:cubicBezTo>
                <a:cubicBezTo>
                  <a:pt x="10878" y="12800"/>
                  <a:pt x="10878" y="12800"/>
                  <a:pt x="10878" y="12800"/>
                </a:cubicBezTo>
                <a:cubicBezTo>
                  <a:pt x="19735" y="7467"/>
                  <a:pt x="19735" y="7467"/>
                  <a:pt x="19735" y="7467"/>
                </a:cubicBezTo>
                <a:cubicBezTo>
                  <a:pt x="19735" y="14933"/>
                  <a:pt x="19735" y="14933"/>
                  <a:pt x="19735" y="14933"/>
                </a:cubicBezTo>
                <a:cubicBezTo>
                  <a:pt x="19424" y="14933"/>
                  <a:pt x="19114" y="15467"/>
                  <a:pt x="19114" y="16267"/>
                </a:cubicBezTo>
                <a:cubicBezTo>
                  <a:pt x="19114" y="16800"/>
                  <a:pt x="19424" y="17067"/>
                  <a:pt x="19580" y="17067"/>
                </a:cubicBezTo>
                <a:cubicBezTo>
                  <a:pt x="19114" y="21600"/>
                  <a:pt x="19114" y="21600"/>
                  <a:pt x="19114" y="21600"/>
                </a:cubicBezTo>
                <a:cubicBezTo>
                  <a:pt x="20978" y="21600"/>
                  <a:pt x="20978" y="21600"/>
                  <a:pt x="20978" y="21600"/>
                </a:cubicBezTo>
                <a:cubicBezTo>
                  <a:pt x="20512" y="17067"/>
                  <a:pt x="20512" y="17067"/>
                  <a:pt x="20512" y="17067"/>
                </a:cubicBezTo>
                <a:cubicBezTo>
                  <a:pt x="20823" y="17067"/>
                  <a:pt x="20978" y="16800"/>
                  <a:pt x="20978" y="16267"/>
                </a:cubicBezTo>
                <a:close/>
                <a:moveTo>
                  <a:pt x="4351" y="11200"/>
                </a:moveTo>
                <a:cubicBezTo>
                  <a:pt x="4351" y="18400"/>
                  <a:pt x="4351" y="18400"/>
                  <a:pt x="4351" y="18400"/>
                </a:cubicBezTo>
                <a:cubicBezTo>
                  <a:pt x="4351" y="20267"/>
                  <a:pt x="7304" y="21600"/>
                  <a:pt x="10878" y="21600"/>
                </a:cubicBezTo>
                <a:cubicBezTo>
                  <a:pt x="14296" y="21600"/>
                  <a:pt x="17249" y="20267"/>
                  <a:pt x="17249" y="18400"/>
                </a:cubicBezTo>
                <a:cubicBezTo>
                  <a:pt x="17249" y="11200"/>
                  <a:pt x="17249" y="11200"/>
                  <a:pt x="17249" y="11200"/>
                </a:cubicBezTo>
                <a:cubicBezTo>
                  <a:pt x="10878" y="14933"/>
                  <a:pt x="10878" y="14933"/>
                  <a:pt x="10878" y="14933"/>
                </a:cubicBezTo>
                <a:lnTo>
                  <a:pt x="4351" y="11200"/>
                </a:lnTo>
                <a:close/>
              </a:path>
            </a:pathLst>
          </a:custGeom>
          <a:solidFill>
            <a:schemeClr val="bg1"/>
          </a:solidFill>
          <a:ln w="7620" cap="flat">
            <a:noFill/>
            <a:prstDash val="solid"/>
            <a:miter/>
          </a:ln>
        </p:spPr>
        <p:txBody>
          <a:bodyPr wrap="square" lIns="91439" tIns="91439" rIns="91439" bIns="91439" numCol="1" anchor="t">
            <a:noAutofit/>
          </a:bodyPr>
          <a:lstStyle/>
          <a:p>
            <a:endParaRPr>
              <a:solidFill>
                <a:schemeClr val="bg1"/>
              </a:solidFill>
              <a:latin typeface="阿里巴巴普惠体 R" panose="00020600040101010101" pitchFamily="18" charset="-122"/>
            </a:endParaRPr>
          </a:p>
        </p:txBody>
      </p:sp>
      <p:sp>
        <p:nvSpPr>
          <p:cNvPr id="15" name="矩形: 圆角 9"/>
          <p:cNvSpPr/>
          <p:nvPr/>
        </p:nvSpPr>
        <p:spPr>
          <a:xfrm>
            <a:off x="2974508" y="5092711"/>
            <a:ext cx="2866390" cy="830580"/>
          </a:xfrm>
          <a:prstGeom prst="roundRect">
            <a:avLst>
              <a:gd name="adj" fmla="val 50000"/>
            </a:avLst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rPr>
              <a:t>第六小组全体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C8C33A-D3E2-F97D-CBBF-77462FEC8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333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sng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宝可梦小游戏设计及软件实现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3D208B7-729E-CF95-CC64-A0ECE821B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333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sng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宝可梦小游戏设计及软件实现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r="116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5000"/>
                </a:schemeClr>
              </a:gs>
              <a:gs pos="86000">
                <a:schemeClr val="tx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837398"/>
            <a:ext cx="12192000" cy="5132760"/>
            <a:chOff x="0" y="2153217"/>
            <a:chExt cx="12192000" cy="2501122"/>
          </a:xfrm>
        </p:grpSpPr>
        <p:sp>
          <p:nvSpPr>
            <p:cNvPr id="9" name="矩形: 圆角 8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标题 1"/>
          <p:cNvSpPr txBox="1"/>
          <p:nvPr/>
        </p:nvSpPr>
        <p:spPr>
          <a:xfrm>
            <a:off x="3563664" y="1360639"/>
            <a:ext cx="5064671" cy="92202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团队分工</a:t>
            </a:r>
          </a:p>
        </p:txBody>
      </p:sp>
      <p:sp>
        <p:nvSpPr>
          <p:cNvPr id="7" name="副标题 2"/>
          <p:cNvSpPr txBox="1"/>
          <p:nvPr/>
        </p:nvSpPr>
        <p:spPr>
          <a:xfrm>
            <a:off x="1305560" y="2332990"/>
            <a:ext cx="9580245" cy="115252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90000"/>
              </a:lnSpc>
              <a:buNone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组长：高双欢（文件撰写、背包代码）</a:t>
            </a:r>
          </a:p>
          <a:p>
            <a:pPr marL="0" indent="0">
              <a:lnSpc>
                <a:spcPct val="190000"/>
              </a:lnSpc>
              <a:buNone/>
            </a:pP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03010" y="3089910"/>
            <a:ext cx="4849495" cy="2197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19805" y="3129915"/>
            <a:ext cx="7858125" cy="2040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组员：杨瞻硕（存档剧情代码、代码测试）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 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武芷冉（文件绘图、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PPT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制作、商店代码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)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  <a:sym typeface="+mn-ea"/>
            </a:endParaRP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 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刁逸飞（地图探索代码、模块拼接）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 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李和阳（战斗系统代码、数值设计）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  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王陈俊（主菜单代码、汇总）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r="116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5000"/>
                </a:schemeClr>
              </a:gs>
              <a:gs pos="86000">
                <a:schemeClr val="tx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4615" y="1029335"/>
            <a:ext cx="12192000" cy="4978756"/>
            <a:chOff x="0" y="2153217"/>
            <a:chExt cx="12192000" cy="2501122"/>
          </a:xfrm>
        </p:grpSpPr>
        <p:sp>
          <p:nvSpPr>
            <p:cNvPr id="19" name="矩形: 圆角 18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173989" y="2699057"/>
            <a:ext cx="7168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01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990465" y="2756535"/>
            <a:ext cx="43472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项目选题与需求分析</a:t>
            </a:r>
          </a:p>
          <a:p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173937" y="3489632"/>
            <a:ext cx="640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02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8" name="文本框 8"/>
          <p:cNvSpPr txBox="1"/>
          <p:nvPr>
            <p:custDataLst>
              <p:tags r:id="rId4"/>
            </p:custDataLst>
          </p:nvPr>
        </p:nvSpPr>
        <p:spPr>
          <a:xfrm>
            <a:off x="4990380" y="3558212"/>
            <a:ext cx="305231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项目设计与实现</a:t>
            </a:r>
          </a:p>
        </p:txBody>
      </p:sp>
      <p:sp>
        <p:nvSpPr>
          <p:cNvPr id="9" name="文本框 11"/>
          <p:cNvSpPr txBox="1"/>
          <p:nvPr>
            <p:custDataLst>
              <p:tags r:id="rId5"/>
            </p:custDataLst>
          </p:nvPr>
        </p:nvSpPr>
        <p:spPr>
          <a:xfrm>
            <a:off x="4173989" y="4279853"/>
            <a:ext cx="7168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03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10" name="文本框 17"/>
          <p:cNvSpPr txBox="1"/>
          <p:nvPr>
            <p:custDataLst>
              <p:tags r:id="rId6"/>
            </p:custDataLst>
          </p:nvPr>
        </p:nvSpPr>
        <p:spPr>
          <a:xfrm>
            <a:off x="4990432" y="4279853"/>
            <a:ext cx="305231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测试效果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3563664" y="1271498"/>
            <a:ext cx="5064671" cy="110030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72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目 录</a:t>
            </a:r>
            <a:endParaRPr lang="zh-CN" altLang="en-US" sz="72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r="116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5000"/>
                </a:schemeClr>
              </a:gs>
              <a:gs pos="86000">
                <a:schemeClr val="tx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1963391"/>
            <a:ext cx="12192000" cy="2880774"/>
            <a:chOff x="0" y="2153217"/>
            <a:chExt cx="12192000" cy="2501122"/>
          </a:xfrm>
        </p:grpSpPr>
        <p:sp>
          <p:nvSpPr>
            <p:cNvPr id="9" name="矩形: 圆角 8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 flipH="1">
            <a:off x="2337334" y="1963391"/>
            <a:ext cx="341125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01</a:t>
            </a:r>
            <a:endParaRPr lang="zh-CN" altLang="en-US" sz="199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5200918" y="2928517"/>
            <a:ext cx="6601727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项目选题与需求分析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" name="文本框 29"/>
          <p:cNvSpPr txBox="1"/>
          <p:nvPr/>
        </p:nvSpPr>
        <p:spPr>
          <a:xfrm>
            <a:off x="5244733" y="3810883"/>
            <a:ext cx="53023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阿里巴巴普惠体 R" panose="00020600040101010101" pitchFamily="18" charset="-122"/>
                <a:cs typeface="Arial" panose="020B0604020202020204" pitchFamily="34" charset="0"/>
              </a:rPr>
              <a:t>project topic selection and demand analysis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汉仪许静行楷简" panose="00020600040101010101" pitchFamily="18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egtq4vion0bv48w"/>
          <p:cNvPicPr>
            <a:picLocks noChangeAspect="1"/>
          </p:cNvPicPr>
          <p:nvPr/>
        </p:nvPicPr>
        <p:blipFill>
          <a:blip r:embed="rId17"/>
          <a:srcRect l="230" t="10263" r="-230" b="7310"/>
          <a:stretch>
            <a:fillRect/>
          </a:stretch>
        </p:blipFill>
        <p:spPr>
          <a:xfrm>
            <a:off x="1094105" y="1824355"/>
            <a:ext cx="3860800" cy="179006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570095" y="215900"/>
            <a:ext cx="3052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项目选题与需求分析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五边形 14"/>
          <p:cNvSpPr/>
          <p:nvPr>
            <p:custDataLst>
              <p:tags r:id="rId1"/>
            </p:custDataLst>
          </p:nvPr>
        </p:nvSpPr>
        <p:spPr>
          <a:xfrm>
            <a:off x="876935" y="3761740"/>
            <a:ext cx="6351270" cy="2681605"/>
          </a:xfrm>
          <a:prstGeom prst="homePlate">
            <a:avLst/>
          </a:prstGeom>
          <a:solidFill>
            <a:srgbClr val="0036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2"/>
            </p:custDataLst>
          </p:nvPr>
        </p:nvSpPr>
        <p:spPr>
          <a:xfrm>
            <a:off x="5596322" y="2789777"/>
            <a:ext cx="157624" cy="157624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>
            <p:custDataLst>
              <p:tags r:id="rId3"/>
            </p:custDataLst>
          </p:nvPr>
        </p:nvSpPr>
        <p:spPr>
          <a:xfrm>
            <a:off x="6939980" y="5806661"/>
            <a:ext cx="157624" cy="157624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形 19" descr="条形图演示文稿 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04664" y="5074927"/>
            <a:ext cx="1033226" cy="1033226"/>
          </a:xfrm>
          <a:prstGeom prst="rect">
            <a:avLst/>
          </a:prstGeom>
        </p:spPr>
      </p:pic>
      <p:sp>
        <p:nvSpPr>
          <p:cNvPr id="21" name="箭头: 五边形 20"/>
          <p:cNvSpPr/>
          <p:nvPr>
            <p:custDataLst>
              <p:tags r:id="rId5"/>
            </p:custDataLst>
          </p:nvPr>
        </p:nvSpPr>
        <p:spPr>
          <a:xfrm flipH="1">
            <a:off x="4718050" y="1703705"/>
            <a:ext cx="6805295" cy="2332355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6"/>
            </p:custDataLst>
          </p:nvPr>
        </p:nvSpPr>
        <p:spPr>
          <a:xfrm>
            <a:off x="5094605" y="2789555"/>
            <a:ext cx="168910" cy="158115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>
            <p:custDataLst>
              <p:tags r:id="rId7"/>
            </p:custDataLst>
          </p:nvPr>
        </p:nvSpPr>
        <p:spPr>
          <a:xfrm>
            <a:off x="6248467" y="4938336"/>
            <a:ext cx="157624" cy="157624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形 24" descr="比特币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10855" y="1830147"/>
            <a:ext cx="1012196" cy="1012196"/>
          </a:xfrm>
          <a:prstGeom prst="rect">
            <a:avLst/>
          </a:prstGeom>
        </p:spPr>
      </p:pic>
      <p:sp>
        <p:nvSpPr>
          <p:cNvPr id="29" name="矩形 28"/>
          <p:cNvSpPr/>
          <p:nvPr>
            <p:custDataLst>
              <p:tags r:id="rId9"/>
            </p:custDataLst>
          </p:nvPr>
        </p:nvSpPr>
        <p:spPr>
          <a:xfrm>
            <a:off x="1169035" y="4389755"/>
            <a:ext cx="4742180" cy="22167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源于宝可梦游戏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重战斗轻管理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的痛点，结合玩家对多系统协同的需求，以结构体整合各系统数据，打造兼具策略性与养成感的宝可梦小游戏，填补细分市场空白。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>
            <a:off x="1169286" y="3860702"/>
            <a:ext cx="1944688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选题依据</a:t>
            </a:r>
          </a:p>
        </p:txBody>
      </p:sp>
      <p:sp>
        <p:nvSpPr>
          <p:cNvPr id="31" name="矩形 30"/>
          <p:cNvSpPr/>
          <p:nvPr>
            <p:custDataLst>
              <p:tags r:id="rId11"/>
            </p:custDataLst>
          </p:nvPr>
        </p:nvSpPr>
        <p:spPr>
          <a:xfrm>
            <a:off x="5595620" y="2101850"/>
            <a:ext cx="5086985" cy="20300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一款宝可梦风格开放式地图探索游戏。玩家移动，能触发回合制战斗与剧情。还有背包、商店系统，支持道具管理。结束后能保存数据，带来经典且丰富的宝可梦体验。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12"/>
            </p:custDataLst>
          </p:nvPr>
        </p:nvSpPr>
        <p:spPr>
          <a:xfrm>
            <a:off x="5911061" y="1772720"/>
            <a:ext cx="1944688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项目简介</a:t>
            </a:r>
          </a:p>
        </p:txBody>
      </p:sp>
      <p:sp>
        <p:nvSpPr>
          <p:cNvPr id="33" name="矩形 32"/>
          <p:cNvSpPr/>
          <p:nvPr>
            <p:custDataLst>
              <p:tags r:id="rId13"/>
            </p:custDataLst>
          </p:nvPr>
        </p:nvSpPr>
        <p:spPr>
          <a:xfrm>
            <a:off x="8216291" y="5274776"/>
            <a:ext cx="3041459" cy="8891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Lorem ipsum dolor sit amet, consectetuer adipiscing elit. Maecenas porttitor congue massa.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Fusce posuere.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8206586" y="4726207"/>
            <a:ext cx="194468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输入标题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7880" y="871220"/>
            <a:ext cx="105575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项目选题：</a:t>
            </a:r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宝可梦小游戏设计及软件实现</a:t>
            </a:r>
          </a:p>
        </p:txBody>
      </p:sp>
      <p:pic>
        <p:nvPicPr>
          <p:cNvPr id="4" name="图片 3"/>
          <p:cNvPicPr/>
          <p:nvPr>
            <p:custDataLst>
              <p:tags r:id="rId15"/>
            </p:custDataLst>
          </p:nvPr>
        </p:nvPicPr>
        <p:blipFill>
          <a:blip r:embed="rId22"/>
          <a:srcRect l="5635" t="23567" r="35543" b="22957"/>
          <a:stretch>
            <a:fillRect/>
          </a:stretch>
        </p:blipFill>
        <p:spPr>
          <a:xfrm>
            <a:off x="7004685" y="4161790"/>
            <a:ext cx="3853815" cy="223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570095" y="215900"/>
            <a:ext cx="3052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项目选题与需求分析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3600091" y="4303862"/>
            <a:ext cx="470118" cy="470117"/>
            <a:chOff x="21876282" y="9904013"/>
            <a:chExt cx="553987" cy="553988"/>
          </a:xfrm>
        </p:grpSpPr>
        <p:sp>
          <p:nvSpPr>
            <p:cNvPr id="22" name="任意图形 5"/>
            <p:cNvSpPr/>
            <p:nvPr/>
          </p:nvSpPr>
          <p:spPr>
            <a:xfrm>
              <a:off x="21898222" y="9904013"/>
              <a:ext cx="510108" cy="186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059"/>
                  </a:moveTo>
                  <a:lnTo>
                    <a:pt x="10839" y="0"/>
                  </a:lnTo>
                  <a:lnTo>
                    <a:pt x="0" y="1905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905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矩形  6"/>
            <p:cNvSpPr/>
            <p:nvPr/>
          </p:nvSpPr>
          <p:spPr>
            <a:xfrm>
              <a:off x="21876282" y="10397665"/>
              <a:ext cx="553987" cy="6033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矩形  7"/>
            <p:cNvSpPr/>
            <p:nvPr/>
          </p:nvSpPr>
          <p:spPr>
            <a:xfrm>
              <a:off x="21916506" y="10306249"/>
              <a:ext cx="475369" cy="6582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矩形  8"/>
            <p:cNvSpPr/>
            <p:nvPr/>
          </p:nvSpPr>
          <p:spPr>
            <a:xfrm>
              <a:off x="21958557" y="10116101"/>
              <a:ext cx="87762" cy="17003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矩形  9"/>
            <p:cNvSpPr/>
            <p:nvPr/>
          </p:nvSpPr>
          <p:spPr>
            <a:xfrm>
              <a:off x="22262061" y="10116101"/>
              <a:ext cx="85933" cy="17003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矩形  10"/>
            <p:cNvSpPr/>
            <p:nvPr/>
          </p:nvSpPr>
          <p:spPr>
            <a:xfrm>
              <a:off x="22110309" y="10116101"/>
              <a:ext cx="85933" cy="17003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8" name="任意图形  11"/>
          <p:cNvSpPr/>
          <p:nvPr/>
        </p:nvSpPr>
        <p:spPr>
          <a:xfrm>
            <a:off x="2108323" y="4303879"/>
            <a:ext cx="470117" cy="4328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5308"/>
                </a:moveTo>
                <a:cubicBezTo>
                  <a:pt x="21600" y="4393"/>
                  <a:pt x="20756" y="3661"/>
                  <a:pt x="19913" y="3661"/>
                </a:cubicBezTo>
                <a:cubicBezTo>
                  <a:pt x="2362" y="3661"/>
                  <a:pt x="2362" y="3661"/>
                  <a:pt x="2362" y="3661"/>
                </a:cubicBezTo>
                <a:cubicBezTo>
                  <a:pt x="2362" y="3661"/>
                  <a:pt x="2362" y="3661"/>
                  <a:pt x="2362" y="3661"/>
                </a:cubicBezTo>
                <a:cubicBezTo>
                  <a:pt x="2025" y="3661"/>
                  <a:pt x="1687" y="3112"/>
                  <a:pt x="1687" y="2746"/>
                </a:cubicBezTo>
                <a:cubicBezTo>
                  <a:pt x="1687" y="2197"/>
                  <a:pt x="2025" y="1831"/>
                  <a:pt x="2362" y="1831"/>
                </a:cubicBezTo>
                <a:cubicBezTo>
                  <a:pt x="2362" y="1831"/>
                  <a:pt x="2362" y="1831"/>
                  <a:pt x="2362" y="1831"/>
                </a:cubicBezTo>
                <a:cubicBezTo>
                  <a:pt x="2531" y="1831"/>
                  <a:pt x="19913" y="1831"/>
                  <a:pt x="19913" y="1831"/>
                </a:cubicBezTo>
                <a:cubicBezTo>
                  <a:pt x="20925" y="1831"/>
                  <a:pt x="21600" y="2563"/>
                  <a:pt x="21600" y="3661"/>
                </a:cubicBezTo>
                <a:cubicBezTo>
                  <a:pt x="21600" y="1831"/>
                  <a:pt x="21600" y="1831"/>
                  <a:pt x="21600" y="1831"/>
                </a:cubicBezTo>
                <a:cubicBezTo>
                  <a:pt x="21600" y="915"/>
                  <a:pt x="20925" y="0"/>
                  <a:pt x="19913" y="0"/>
                </a:cubicBezTo>
                <a:cubicBezTo>
                  <a:pt x="2531" y="0"/>
                  <a:pt x="2531" y="0"/>
                  <a:pt x="2531" y="0"/>
                </a:cubicBezTo>
                <a:cubicBezTo>
                  <a:pt x="1181" y="0"/>
                  <a:pt x="0" y="1281"/>
                  <a:pt x="0" y="2746"/>
                </a:cubicBezTo>
                <a:cubicBezTo>
                  <a:pt x="0" y="3112"/>
                  <a:pt x="0" y="21600"/>
                  <a:pt x="0" y="21600"/>
                </a:cubicBezTo>
                <a:cubicBezTo>
                  <a:pt x="19913" y="21600"/>
                  <a:pt x="19913" y="21600"/>
                  <a:pt x="19913" y="21600"/>
                </a:cubicBezTo>
                <a:cubicBezTo>
                  <a:pt x="20925" y="21600"/>
                  <a:pt x="21600" y="20685"/>
                  <a:pt x="21600" y="19769"/>
                </a:cubicBezTo>
                <a:lnTo>
                  <a:pt x="21600" y="5308"/>
                </a:lnTo>
                <a:close/>
                <a:moveTo>
                  <a:pt x="21600" y="8969"/>
                </a:moveTo>
                <a:cubicBezTo>
                  <a:pt x="21600" y="9885"/>
                  <a:pt x="21600" y="9885"/>
                  <a:pt x="21600" y="9885"/>
                </a:cubicBezTo>
                <a:cubicBezTo>
                  <a:pt x="11644" y="9885"/>
                  <a:pt x="11644" y="9885"/>
                  <a:pt x="11644" y="9885"/>
                </a:cubicBezTo>
                <a:cubicBezTo>
                  <a:pt x="11644" y="15376"/>
                  <a:pt x="11644" y="15376"/>
                  <a:pt x="11644" y="15376"/>
                </a:cubicBezTo>
                <a:cubicBezTo>
                  <a:pt x="21600" y="15376"/>
                  <a:pt x="21600" y="15376"/>
                  <a:pt x="21600" y="15376"/>
                </a:cubicBezTo>
                <a:cubicBezTo>
                  <a:pt x="21600" y="16292"/>
                  <a:pt x="21600" y="16292"/>
                  <a:pt x="21600" y="16292"/>
                </a:cubicBezTo>
                <a:cubicBezTo>
                  <a:pt x="21600" y="17024"/>
                  <a:pt x="21600" y="17024"/>
                  <a:pt x="21600" y="17024"/>
                </a:cubicBezTo>
                <a:cubicBezTo>
                  <a:pt x="9956" y="17024"/>
                  <a:pt x="9956" y="17024"/>
                  <a:pt x="9956" y="17024"/>
                </a:cubicBezTo>
                <a:cubicBezTo>
                  <a:pt x="9956" y="8054"/>
                  <a:pt x="9956" y="8054"/>
                  <a:pt x="9956" y="8054"/>
                </a:cubicBezTo>
                <a:cubicBezTo>
                  <a:pt x="21600" y="8054"/>
                  <a:pt x="21600" y="8054"/>
                  <a:pt x="21600" y="8054"/>
                </a:cubicBezTo>
                <a:lnTo>
                  <a:pt x="21600" y="8969"/>
                </a:lnTo>
                <a:close/>
                <a:moveTo>
                  <a:pt x="15356" y="12631"/>
                </a:moveTo>
                <a:cubicBezTo>
                  <a:pt x="15356" y="13363"/>
                  <a:pt x="14681" y="13912"/>
                  <a:pt x="14006" y="13912"/>
                </a:cubicBezTo>
                <a:cubicBezTo>
                  <a:pt x="13331" y="13912"/>
                  <a:pt x="12825" y="13363"/>
                  <a:pt x="12825" y="12631"/>
                </a:cubicBezTo>
                <a:cubicBezTo>
                  <a:pt x="12825" y="11898"/>
                  <a:pt x="13331" y="11349"/>
                  <a:pt x="14006" y="11349"/>
                </a:cubicBezTo>
                <a:cubicBezTo>
                  <a:pt x="14681" y="11349"/>
                  <a:pt x="15356" y="11898"/>
                  <a:pt x="15356" y="1263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/>
          <a:p>
            <a:endParaRPr/>
          </a:p>
        </p:txBody>
      </p:sp>
      <p:grpSp>
        <p:nvGrpSpPr>
          <p:cNvPr id="35" name="组合 34"/>
          <p:cNvGrpSpPr/>
          <p:nvPr/>
        </p:nvGrpSpPr>
        <p:grpSpPr>
          <a:xfrm>
            <a:off x="2087098" y="2758397"/>
            <a:ext cx="470118" cy="470119"/>
            <a:chOff x="20770137" y="8796040"/>
            <a:chExt cx="553987" cy="553988"/>
          </a:xfrm>
        </p:grpSpPr>
        <p:sp>
          <p:nvSpPr>
            <p:cNvPr id="36" name="矩形  39"/>
            <p:cNvSpPr/>
            <p:nvPr/>
          </p:nvSpPr>
          <p:spPr>
            <a:xfrm>
              <a:off x="20868867" y="9020926"/>
              <a:ext cx="91418" cy="877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37" name="矩形  40"/>
            <p:cNvSpPr/>
            <p:nvPr/>
          </p:nvSpPr>
          <p:spPr>
            <a:xfrm>
              <a:off x="21004164" y="9020926"/>
              <a:ext cx="85932" cy="877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38" name="矩形  41"/>
            <p:cNvSpPr/>
            <p:nvPr/>
          </p:nvSpPr>
          <p:spPr>
            <a:xfrm>
              <a:off x="21133976" y="9020926"/>
              <a:ext cx="89589" cy="877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39" name="矩形  42"/>
            <p:cNvSpPr/>
            <p:nvPr/>
          </p:nvSpPr>
          <p:spPr>
            <a:xfrm>
              <a:off x="20868867" y="9152566"/>
              <a:ext cx="91418" cy="895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40" name="矩形  43"/>
            <p:cNvSpPr/>
            <p:nvPr/>
          </p:nvSpPr>
          <p:spPr>
            <a:xfrm>
              <a:off x="21004164" y="9152566"/>
              <a:ext cx="85932" cy="895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41" name="矩形  44"/>
            <p:cNvSpPr/>
            <p:nvPr/>
          </p:nvSpPr>
          <p:spPr>
            <a:xfrm>
              <a:off x="21133976" y="9152566"/>
              <a:ext cx="89589" cy="895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42" name="矩形  45"/>
            <p:cNvSpPr/>
            <p:nvPr/>
          </p:nvSpPr>
          <p:spPr>
            <a:xfrm>
              <a:off x="21146774" y="8796040"/>
              <a:ext cx="63993" cy="877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43" name="矩形  46"/>
            <p:cNvSpPr/>
            <p:nvPr/>
          </p:nvSpPr>
          <p:spPr>
            <a:xfrm>
              <a:off x="20881665" y="8796040"/>
              <a:ext cx="65821" cy="8776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  <p:sp>
          <p:nvSpPr>
            <p:cNvPr id="44" name="任意图形  47"/>
            <p:cNvSpPr/>
            <p:nvPr/>
          </p:nvSpPr>
          <p:spPr>
            <a:xfrm>
              <a:off x="20770137" y="8843577"/>
              <a:ext cx="553987" cy="506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197"/>
                  </a:moveTo>
                  <a:lnTo>
                    <a:pt x="21600" y="0"/>
                  </a:lnTo>
                  <a:lnTo>
                    <a:pt x="18036" y="0"/>
                  </a:lnTo>
                  <a:lnTo>
                    <a:pt x="18036" y="2807"/>
                  </a:lnTo>
                  <a:lnTo>
                    <a:pt x="13616" y="2807"/>
                  </a:lnTo>
                  <a:lnTo>
                    <a:pt x="13616" y="0"/>
                  </a:lnTo>
                  <a:lnTo>
                    <a:pt x="7913" y="0"/>
                  </a:lnTo>
                  <a:lnTo>
                    <a:pt x="7913" y="2807"/>
                  </a:lnTo>
                  <a:lnTo>
                    <a:pt x="3564" y="2807"/>
                  </a:lnTo>
                  <a:lnTo>
                    <a:pt x="3564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3197"/>
                  </a:lnTo>
                  <a:close/>
                  <a:moveTo>
                    <a:pt x="19034" y="19027"/>
                  </a:moveTo>
                  <a:lnTo>
                    <a:pt x="2495" y="19027"/>
                  </a:lnTo>
                  <a:lnTo>
                    <a:pt x="2495" y="5536"/>
                  </a:lnTo>
                  <a:lnTo>
                    <a:pt x="19034" y="5536"/>
                  </a:lnTo>
                  <a:lnTo>
                    <a:pt x="19034" y="19027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2" name="图片 1"/>
          <p:cNvPicPr/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48640" y="1066165"/>
            <a:ext cx="8447405" cy="48748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67930" y="1291590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系统功能：数据系统、对战系统、背包系统、主界面交互系统、地图探索系统、商店系统、存档系统</a:t>
            </a:r>
          </a:p>
          <a:p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2540" y="3228340"/>
            <a:ext cx="4243705" cy="5678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pic>
        <p:nvPicPr>
          <p:cNvPr id="77" name="图片 76" descr="皮卡丘 (14)_爱给网_aigei_c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145" y="4252595"/>
            <a:ext cx="2324100" cy="2324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570095" y="215900"/>
            <a:ext cx="3052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项目选题与需求分析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泪滴形 14"/>
          <p:cNvSpPr/>
          <p:nvPr>
            <p:custDataLst>
              <p:tags r:id="rId1"/>
            </p:custDataLst>
          </p:nvPr>
        </p:nvSpPr>
        <p:spPr>
          <a:xfrm>
            <a:off x="4170780" y="4151404"/>
            <a:ext cx="1501542" cy="1501542"/>
          </a:xfrm>
          <a:prstGeom prst="teardrop">
            <a:avLst/>
          </a:prstGeom>
          <a:solidFill>
            <a:srgbClr val="0036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泪滴形 15"/>
          <p:cNvSpPr/>
          <p:nvPr>
            <p:custDataLst>
              <p:tags r:id="rId2"/>
            </p:custDataLst>
          </p:nvPr>
        </p:nvSpPr>
        <p:spPr>
          <a:xfrm flipV="1">
            <a:off x="4170780" y="1728478"/>
            <a:ext cx="1501542" cy="1501542"/>
          </a:xfrm>
          <a:prstGeom prst="teardrop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泪滴形 16"/>
          <p:cNvSpPr/>
          <p:nvPr>
            <p:custDataLst>
              <p:tags r:id="rId3"/>
            </p:custDataLst>
          </p:nvPr>
        </p:nvSpPr>
        <p:spPr>
          <a:xfrm flipH="1">
            <a:off x="6465703" y="4152039"/>
            <a:ext cx="1501542" cy="1501542"/>
          </a:xfrm>
          <a:prstGeom prst="teardrop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泪滴形 17"/>
          <p:cNvSpPr/>
          <p:nvPr>
            <p:custDataLst>
              <p:tags r:id="rId4"/>
            </p:custDataLst>
          </p:nvPr>
        </p:nvSpPr>
        <p:spPr>
          <a:xfrm flipH="1" flipV="1">
            <a:off x="6465703" y="1694823"/>
            <a:ext cx="1501542" cy="1501542"/>
          </a:xfrm>
          <a:prstGeom prst="teardrop">
            <a:avLst/>
          </a:prstGeom>
          <a:solidFill>
            <a:srgbClr val="0036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AutoShape 59"/>
          <p:cNvSpPr/>
          <p:nvPr>
            <p:custDataLst>
              <p:tags r:id="rId5"/>
            </p:custDataLst>
          </p:nvPr>
        </p:nvSpPr>
        <p:spPr bwMode="auto">
          <a:xfrm>
            <a:off x="6900903" y="2332755"/>
            <a:ext cx="488901" cy="488067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defTabSz="609600"/>
            <a:endParaRPr lang="en-US" sz="4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0" name="AutoShape 112"/>
          <p:cNvSpPr/>
          <p:nvPr>
            <p:custDataLst>
              <p:tags r:id="rId6"/>
            </p:custDataLst>
          </p:nvPr>
        </p:nvSpPr>
        <p:spPr bwMode="auto">
          <a:xfrm>
            <a:off x="4753025" y="4570094"/>
            <a:ext cx="488067" cy="488901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0800" tIns="50800" rIns="50800" bIns="50800" anchor="ctr"/>
          <a:lstStyle/>
          <a:p>
            <a:pPr defTabSz="609600"/>
            <a:endParaRPr lang="en-US" sz="4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1" name="组合 20"/>
          <p:cNvGrpSpPr/>
          <p:nvPr>
            <p:custDataLst>
              <p:tags r:id="rId7"/>
            </p:custDataLst>
          </p:nvPr>
        </p:nvGrpSpPr>
        <p:grpSpPr>
          <a:xfrm>
            <a:off x="6916062" y="4603749"/>
            <a:ext cx="335391" cy="488901"/>
            <a:chOff x="3483951" y="3689703"/>
            <a:chExt cx="335391" cy="488901"/>
          </a:xfrm>
          <a:solidFill>
            <a:schemeClr val="bg1"/>
          </a:solidFill>
        </p:grpSpPr>
        <p:sp>
          <p:nvSpPr>
            <p:cNvPr id="22" name="AutoShape 113"/>
            <p:cNvSpPr/>
            <p:nvPr>
              <p:custDataLst>
                <p:tags r:id="rId12"/>
              </p:custDataLst>
            </p:nvPr>
          </p:nvSpPr>
          <p:spPr bwMode="auto">
            <a:xfrm>
              <a:off x="3483951" y="3689703"/>
              <a:ext cx="335391" cy="48890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3" name="AutoShape 114"/>
            <p:cNvSpPr/>
            <p:nvPr>
              <p:custDataLst>
                <p:tags r:id="rId13"/>
              </p:custDataLst>
            </p:nvPr>
          </p:nvSpPr>
          <p:spPr bwMode="auto">
            <a:xfrm>
              <a:off x="3559873" y="3766460"/>
              <a:ext cx="99281" cy="992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8"/>
            </p:custDataLst>
          </p:nvPr>
        </p:nvGrpSpPr>
        <p:grpSpPr>
          <a:xfrm>
            <a:off x="4752665" y="2332755"/>
            <a:ext cx="488901" cy="488067"/>
            <a:chOff x="2431058" y="2713568"/>
            <a:chExt cx="488901" cy="488067"/>
          </a:xfrm>
          <a:solidFill>
            <a:schemeClr val="bg1"/>
          </a:solidFill>
        </p:grpSpPr>
        <p:sp>
          <p:nvSpPr>
            <p:cNvPr id="25" name="AutoShape 128"/>
            <p:cNvSpPr/>
            <p:nvPr>
              <p:custDataLst>
                <p:tags r:id="rId10"/>
              </p:custDataLst>
            </p:nvPr>
          </p:nvSpPr>
          <p:spPr bwMode="auto">
            <a:xfrm>
              <a:off x="2431058" y="2713568"/>
              <a:ext cx="488901" cy="48806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850" y="12150"/>
                  </a:moveTo>
                  <a:cubicBezTo>
                    <a:pt x="13851" y="12150"/>
                    <a:pt x="12926" y="11859"/>
                    <a:pt x="12124" y="11386"/>
                  </a:cubicBezTo>
                  <a:lnTo>
                    <a:pt x="11892" y="11618"/>
                  </a:lnTo>
                  <a:lnTo>
                    <a:pt x="11132" y="12377"/>
                  </a:lnTo>
                  <a:lnTo>
                    <a:pt x="9846" y="13663"/>
                  </a:lnTo>
                  <a:cubicBezTo>
                    <a:pt x="9593" y="13916"/>
                    <a:pt x="9451" y="14260"/>
                    <a:pt x="9451" y="14617"/>
                  </a:cubicBezTo>
                  <a:lnTo>
                    <a:pt x="9451" y="16200"/>
                  </a:lnTo>
                  <a:lnTo>
                    <a:pt x="8101" y="16200"/>
                  </a:lnTo>
                  <a:cubicBezTo>
                    <a:pt x="7356" y="16200"/>
                    <a:pt x="6751" y="16804"/>
                    <a:pt x="6751" y="17549"/>
                  </a:cubicBezTo>
                  <a:lnTo>
                    <a:pt x="6751" y="18900"/>
                  </a:lnTo>
                  <a:lnTo>
                    <a:pt x="5170" y="18900"/>
                  </a:lnTo>
                  <a:cubicBezTo>
                    <a:pt x="4812" y="18900"/>
                    <a:pt x="4469" y="19042"/>
                    <a:pt x="4216" y="19295"/>
                  </a:cubicBezTo>
                  <a:lnTo>
                    <a:pt x="3259" y="20252"/>
                  </a:lnTo>
                  <a:lnTo>
                    <a:pt x="1352" y="20249"/>
                  </a:lnTo>
                  <a:lnTo>
                    <a:pt x="1350" y="18326"/>
                  </a:lnTo>
                  <a:lnTo>
                    <a:pt x="9223" y="10467"/>
                  </a:lnTo>
                  <a:cubicBezTo>
                    <a:pt x="9223" y="10467"/>
                    <a:pt x="9223" y="10467"/>
                    <a:pt x="9224" y="10468"/>
                  </a:cubicBezTo>
                  <a:lnTo>
                    <a:pt x="10215" y="9477"/>
                  </a:lnTo>
                  <a:cubicBezTo>
                    <a:pt x="9741" y="8674"/>
                    <a:pt x="9451" y="7748"/>
                    <a:pt x="9451" y="6750"/>
                  </a:cubicBezTo>
                  <a:cubicBezTo>
                    <a:pt x="9451" y="3767"/>
                    <a:pt x="11869" y="1350"/>
                    <a:pt x="14850" y="1350"/>
                  </a:cubicBezTo>
                  <a:cubicBezTo>
                    <a:pt x="17832" y="1350"/>
                    <a:pt x="20250" y="3767"/>
                    <a:pt x="20250" y="6750"/>
                  </a:cubicBezTo>
                  <a:cubicBezTo>
                    <a:pt x="20250" y="9732"/>
                    <a:pt x="17832" y="12150"/>
                    <a:pt x="14850" y="12150"/>
                  </a:cubicBezTo>
                  <a:moveTo>
                    <a:pt x="14850" y="0"/>
                  </a:moveTo>
                  <a:cubicBezTo>
                    <a:pt x="11123" y="0"/>
                    <a:pt x="8101" y="3022"/>
                    <a:pt x="8101" y="6750"/>
                  </a:cubicBezTo>
                  <a:cubicBezTo>
                    <a:pt x="8101" y="7617"/>
                    <a:pt x="8283" y="8438"/>
                    <a:pt x="8582" y="9199"/>
                  </a:cubicBezTo>
                  <a:lnTo>
                    <a:pt x="383" y="17400"/>
                  </a:lnTo>
                  <a:cubicBezTo>
                    <a:pt x="146" y="17637"/>
                    <a:pt x="0" y="17863"/>
                    <a:pt x="0" y="18225"/>
                  </a:cubicBezTo>
                  <a:lnTo>
                    <a:pt x="0" y="20249"/>
                  </a:lnTo>
                  <a:cubicBezTo>
                    <a:pt x="0" y="20972"/>
                    <a:pt x="626" y="21599"/>
                    <a:pt x="1349" y="21599"/>
                  </a:cubicBezTo>
                  <a:lnTo>
                    <a:pt x="3374" y="21599"/>
                  </a:lnTo>
                  <a:cubicBezTo>
                    <a:pt x="3736" y="21599"/>
                    <a:pt x="3965" y="21455"/>
                    <a:pt x="4202" y="21219"/>
                  </a:cubicBezTo>
                  <a:lnTo>
                    <a:pt x="5170" y="20249"/>
                  </a:lnTo>
                  <a:lnTo>
                    <a:pt x="6751" y="20249"/>
                  </a:lnTo>
                  <a:cubicBezTo>
                    <a:pt x="7496" y="20249"/>
                    <a:pt x="8101" y="19645"/>
                    <a:pt x="8101" y="18900"/>
                  </a:cubicBezTo>
                  <a:lnTo>
                    <a:pt x="8101" y="17549"/>
                  </a:lnTo>
                  <a:lnTo>
                    <a:pt x="9451" y="17549"/>
                  </a:lnTo>
                  <a:cubicBezTo>
                    <a:pt x="10196" y="17549"/>
                    <a:pt x="10801" y="16945"/>
                    <a:pt x="10801" y="16200"/>
                  </a:cubicBezTo>
                  <a:lnTo>
                    <a:pt x="10801" y="14617"/>
                  </a:lnTo>
                  <a:lnTo>
                    <a:pt x="12400" y="13018"/>
                  </a:lnTo>
                  <a:cubicBezTo>
                    <a:pt x="13162" y="13317"/>
                    <a:pt x="13982" y="13500"/>
                    <a:pt x="14850" y="13500"/>
                  </a:cubicBezTo>
                  <a:cubicBezTo>
                    <a:pt x="18577" y="13500"/>
                    <a:pt x="21599" y="10477"/>
                    <a:pt x="21599" y="6750"/>
                  </a:cubicBezTo>
                  <a:cubicBezTo>
                    <a:pt x="21599" y="3022"/>
                    <a:pt x="18577" y="0"/>
                    <a:pt x="148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6" name="AutoShape 129"/>
            <p:cNvSpPr/>
            <p:nvPr>
              <p:custDataLst>
                <p:tags r:id="rId11"/>
              </p:custDataLst>
            </p:nvPr>
          </p:nvSpPr>
          <p:spPr bwMode="auto">
            <a:xfrm>
              <a:off x="2736412" y="2774472"/>
              <a:ext cx="121808" cy="121808"/>
            </a:xfrm>
            <a:custGeom>
              <a:avLst/>
              <a:gdLst>
                <a:gd name="T0" fmla="*/ 10800 w 21600"/>
                <a:gd name="T1" fmla="+- 0 10800 134"/>
                <a:gd name="T2" fmla="*/ 10800 h 21333"/>
                <a:gd name="T3" fmla="*/ 10800 w 21600"/>
                <a:gd name="T4" fmla="+- 0 10800 134"/>
                <a:gd name="T5" fmla="*/ 10800 h 21333"/>
                <a:gd name="T6" fmla="*/ 10800 w 21600"/>
                <a:gd name="T7" fmla="+- 0 10800 134"/>
                <a:gd name="T8" fmla="*/ 10800 h 21333"/>
                <a:gd name="T9" fmla="*/ 10800 w 21600"/>
                <a:gd name="T10" fmla="+- 0 10800 134"/>
                <a:gd name="T11" fmla="*/ 10800 h 213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21333">
                  <a:moveTo>
                    <a:pt x="13008" y="18684"/>
                  </a:moveTo>
                  <a:cubicBezTo>
                    <a:pt x="9017" y="15850"/>
                    <a:pt x="5542" y="12415"/>
                    <a:pt x="2694" y="8570"/>
                  </a:cubicBezTo>
                  <a:cubicBezTo>
                    <a:pt x="3736" y="5628"/>
                    <a:pt x="5693" y="3697"/>
                    <a:pt x="8585" y="2647"/>
                  </a:cubicBezTo>
                  <a:cubicBezTo>
                    <a:pt x="12578" y="5489"/>
                    <a:pt x="16048" y="8911"/>
                    <a:pt x="18889" y="12809"/>
                  </a:cubicBezTo>
                  <a:cubicBezTo>
                    <a:pt x="17836" y="15730"/>
                    <a:pt x="15883" y="17647"/>
                    <a:pt x="13008" y="18684"/>
                  </a:cubicBezTo>
                  <a:moveTo>
                    <a:pt x="21110" y="11295"/>
                  </a:moveTo>
                  <a:cubicBezTo>
                    <a:pt x="18081" y="7130"/>
                    <a:pt x="14396" y="3496"/>
                    <a:pt x="10161" y="484"/>
                  </a:cubicBezTo>
                  <a:cubicBezTo>
                    <a:pt x="9468" y="-8"/>
                    <a:pt x="8579" y="-134"/>
                    <a:pt x="7778" y="145"/>
                  </a:cubicBezTo>
                  <a:cubicBezTo>
                    <a:pt x="4027" y="1450"/>
                    <a:pt x="1463" y="3983"/>
                    <a:pt x="145" y="7687"/>
                  </a:cubicBezTo>
                  <a:cubicBezTo>
                    <a:pt x="46" y="7962"/>
                    <a:pt x="0" y="8252"/>
                    <a:pt x="0" y="8537"/>
                  </a:cubicBezTo>
                  <a:cubicBezTo>
                    <a:pt x="0" y="9071"/>
                    <a:pt x="167" y="9596"/>
                    <a:pt x="487" y="10041"/>
                  </a:cubicBezTo>
                  <a:cubicBezTo>
                    <a:pt x="3525" y="14213"/>
                    <a:pt x="7211" y="17850"/>
                    <a:pt x="11431" y="20850"/>
                  </a:cubicBezTo>
                  <a:cubicBezTo>
                    <a:pt x="12122" y="21338"/>
                    <a:pt x="13010" y="21466"/>
                    <a:pt x="13812" y="21188"/>
                  </a:cubicBezTo>
                  <a:cubicBezTo>
                    <a:pt x="17563" y="19893"/>
                    <a:pt x="20133" y="17356"/>
                    <a:pt x="21451" y="13647"/>
                  </a:cubicBezTo>
                  <a:cubicBezTo>
                    <a:pt x="21551" y="13372"/>
                    <a:pt x="21600" y="13081"/>
                    <a:pt x="21600" y="12796"/>
                  </a:cubicBezTo>
                  <a:cubicBezTo>
                    <a:pt x="21600" y="12265"/>
                    <a:pt x="21429" y="11740"/>
                    <a:pt x="21110" y="1129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/>
            <a:p>
              <a:pPr defTabSz="609600"/>
              <a:endParaRPr lang="en-US" sz="4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591562" y="2404666"/>
            <a:ext cx="3407345" cy="3448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69300" y="4151630"/>
            <a:ext cx="2701290" cy="1985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4.确保静态数据保护与操作安全：</a:t>
            </a:r>
          </a:p>
          <a:p>
            <a:pPr algn="l">
              <a:buClrTx/>
              <a:buSzTx/>
              <a:buNone/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进行合法性校验；降低数据丢失风险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42385" y="3388360"/>
            <a:ext cx="4490085" cy="836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非功能需求</a:t>
            </a:r>
            <a:endParaRPr lang="zh-CN" altLang="en-US" sz="3600" b="1"/>
          </a:p>
        </p:txBody>
      </p:sp>
      <p:sp>
        <p:nvSpPr>
          <p:cNvPr id="35" name="文本框 34"/>
          <p:cNvSpPr txBox="1"/>
          <p:nvPr/>
        </p:nvSpPr>
        <p:spPr>
          <a:xfrm>
            <a:off x="1064895" y="1938655"/>
            <a:ext cx="27851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1.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稳定并发与逻辑执行：</a:t>
            </a:r>
          </a:p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多线程顺序执行，确保多系统间数据同步无冲突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endParaRPr lang="zh-CN" altLang="en-US" sz="2000"/>
          </a:p>
        </p:txBody>
      </p:sp>
      <p:sp>
        <p:nvSpPr>
          <p:cNvPr id="36" name="文本框 35"/>
          <p:cNvSpPr txBox="1"/>
          <p:nvPr/>
        </p:nvSpPr>
        <p:spPr>
          <a:xfrm>
            <a:off x="8340725" y="1943735"/>
            <a:ext cx="263525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2.低延迟交互响应：</a:t>
            </a:r>
          </a:p>
          <a:p>
            <a:pPr algn="l">
              <a:buClrTx/>
              <a:buSzTx/>
              <a:buNone/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提高核心计算效率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064895" y="4198620"/>
            <a:ext cx="2642235" cy="14547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3.紧凑资源管理：减小内存占用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r="116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5000"/>
                </a:schemeClr>
              </a:gs>
              <a:gs pos="86000">
                <a:schemeClr val="tx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2153217"/>
            <a:ext cx="12192000" cy="2501122"/>
            <a:chOff x="0" y="2153217"/>
            <a:chExt cx="12192000" cy="2501122"/>
          </a:xfrm>
        </p:grpSpPr>
        <p:sp>
          <p:nvSpPr>
            <p:cNvPr id="9" name="矩形: 圆角 8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 flipH="1">
            <a:off x="2106328" y="1963391"/>
            <a:ext cx="341125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02</a:t>
            </a:r>
            <a:endParaRPr lang="zh-CN" altLang="en-US" sz="199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" name="文本框 29"/>
          <p:cNvSpPr txBox="1"/>
          <p:nvPr/>
        </p:nvSpPr>
        <p:spPr>
          <a:xfrm>
            <a:off x="5200918" y="3810883"/>
            <a:ext cx="53023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阿里巴巴普惠体 R" panose="00020600040101010101" pitchFamily="18" charset="-122"/>
                <a:cs typeface="Arial" panose="020B0604020202020204" pitchFamily="34" charset="0"/>
              </a:rPr>
              <a:t>project design and inplementation</a:t>
            </a:r>
          </a:p>
        </p:txBody>
      </p:sp>
      <p:sp>
        <p:nvSpPr>
          <p:cNvPr id="7" name="文本框 2"/>
          <p:cNvSpPr txBox="1"/>
          <p:nvPr/>
        </p:nvSpPr>
        <p:spPr>
          <a:xfrm>
            <a:off x="5200918" y="2928517"/>
            <a:ext cx="6601727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项目设计与实现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299017" y="217177"/>
            <a:ext cx="3766686" cy="660310"/>
            <a:chOff x="625973" y="215907"/>
            <a:chExt cx="3766686" cy="660310"/>
          </a:xfrm>
        </p:grpSpPr>
        <p:sp>
          <p:nvSpPr>
            <p:cNvPr id="9" name="文本框 29"/>
            <p:cNvSpPr txBox="1"/>
            <p:nvPr/>
          </p:nvSpPr>
          <p:spPr>
            <a:xfrm>
              <a:off x="625973" y="600627"/>
              <a:ext cx="3766686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阿里巴巴普惠体 R" panose="00020600040101010101" pitchFamily="18" charset="-122"/>
                <a:cs typeface="Arial" panose="020B060402020202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83158" y="215907"/>
              <a:ext cx="3052316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R" panose="00020600040101010101" pitchFamily="18" charset="-122"/>
                  <a:ea typeface="阿里巴巴普惠体 R" panose="00020600040101010101" pitchFamily="18" charset="-122"/>
                  <a:cs typeface="阿里巴巴普惠体 R" panose="00020600040101010101" pitchFamily="18" charset="-122"/>
                  <a:sym typeface="+mn-ea"/>
                </a:rPr>
                <a:t>项目设计与实现</a:t>
              </a:r>
              <a:endPara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>
            <p:custDataLst>
              <p:tags r:id="rId1"/>
            </p:custDataLst>
          </p:nvPr>
        </p:nvSpPr>
        <p:spPr>
          <a:xfrm>
            <a:off x="10322281" y="747436"/>
            <a:ext cx="895746" cy="895746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>
            <p:custDataLst>
              <p:tags r:id="rId2"/>
            </p:custDataLst>
          </p:nvPr>
        </p:nvSpPr>
        <p:spPr>
          <a:xfrm>
            <a:off x="9488196" y="4358414"/>
            <a:ext cx="895746" cy="895746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8361521" y="5442394"/>
            <a:ext cx="3181566" cy="8227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user can perform the presentation on a projector or computer, and the powerpoint can be printed out and made into film.</a:t>
            </a:r>
            <a:r>
              <a:rPr lang="en-US" altLang="zh-CN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4591547" y="2864510"/>
            <a:ext cx="3181566" cy="8227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user can perform the presentation on a projector or computer, and the powerpoint can be printed out and made into film.</a:t>
            </a:r>
            <a:r>
              <a:rPr lang="en-US" altLang="zh-CN"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2770" y="1043940"/>
            <a:ext cx="1949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</a:rPr>
              <a:t>主程序流程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DAC814-B38B-D547-95CB-6E16E96739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938" y="747410"/>
            <a:ext cx="5470285" cy="59878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570095" y="215900"/>
            <a:ext cx="3052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项目设计与实现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"/>
          <p:cNvSpPr/>
          <p:nvPr>
            <p:custDataLst>
              <p:tags r:id="rId1"/>
            </p:custDataLst>
          </p:nvPr>
        </p:nvSpPr>
        <p:spPr>
          <a:xfrm>
            <a:off x="1257173" y="1937359"/>
            <a:ext cx="2597957" cy="9332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20000"/>
              </a:lnSpc>
              <a:spcBef>
                <a:spcPts val="1000"/>
              </a:spcBef>
              <a:defRPr sz="1600">
                <a:solidFill>
                  <a:srgbClr val="4D4D4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模块分工：</a:t>
            </a:r>
            <a:endParaRPr lang="zh-CN" altLang="en-US" sz="1800">
              <a:solidFill>
                <a:srgbClr val="0F1115"/>
              </a:solidFill>
              <a:latin typeface="quote-cjk-patch"/>
              <a:ea typeface="quote-cjk-patch"/>
              <a:sym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将各游戏系统的数据定义为结构体，逻辑定义为函数，由成员分工开发</a:t>
            </a:r>
            <a:r>
              <a:rPr lang="zh-CN" altLang="en-US" sz="12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1036291" y="1054968"/>
            <a:ext cx="15168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dirty="0">
                <a:solidFill>
                  <a:srgbClr val="0036A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01</a:t>
            </a:r>
            <a:endParaRPr lang="zh-CN" altLang="en-US" sz="4800" dirty="0">
              <a:solidFill>
                <a:srgbClr val="0036A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3"/>
            </p:custDataLst>
          </p:nvPr>
        </p:nvCxnSpPr>
        <p:spPr>
          <a:xfrm>
            <a:off x="2050994" y="1470271"/>
            <a:ext cx="2161496" cy="0"/>
          </a:xfrm>
          <a:prstGeom prst="line">
            <a:avLst/>
          </a:prstGeom>
          <a:ln w="19050">
            <a:solidFill>
              <a:srgbClr val="032D7A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"/>
          <p:cNvSpPr/>
          <p:nvPr>
            <p:custDataLst>
              <p:tags r:id="rId4"/>
            </p:custDataLst>
          </p:nvPr>
        </p:nvSpPr>
        <p:spPr>
          <a:xfrm>
            <a:off x="4560978" y="2099919"/>
            <a:ext cx="2597957" cy="9332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20000"/>
              </a:lnSpc>
              <a:spcBef>
                <a:spcPts val="1000"/>
              </a:spcBef>
              <a:defRPr sz="1600">
                <a:solidFill>
                  <a:srgbClr val="4D4D4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数据集中：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将所有系统的结构体整合到一个总结构体</a:t>
            </a:r>
            <a:r>
              <a:rPr lang="en-US" altLang="zh-CN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 </a:t>
            </a:r>
            <a:r>
              <a:rPr lang="en-US" altLang="zh-CN" sz="18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GameContext</a:t>
            </a:r>
            <a:r>
              <a:rPr lang="en-US" altLang="zh-CN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 </a:t>
            </a:r>
            <a:r>
              <a:rPr lang="zh-CN" altLang="en-US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中，统一管理游戏数据。</a:t>
            </a: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5"/>
            </p:custDataLst>
          </p:nvPr>
        </p:nvSpPr>
        <p:spPr>
          <a:xfrm>
            <a:off x="4450586" y="1054333"/>
            <a:ext cx="15168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6"/>
            </p:custDataLst>
          </p:nvPr>
        </p:nvCxnSpPr>
        <p:spPr>
          <a:xfrm>
            <a:off x="5500214" y="1470271"/>
            <a:ext cx="2161496" cy="0"/>
          </a:xfrm>
          <a:prstGeom prst="line">
            <a:avLst/>
          </a:prstGeom>
          <a:ln w="19050">
            <a:solidFill>
              <a:srgbClr val="032D7A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"/>
          <p:cNvSpPr/>
          <p:nvPr>
            <p:custDataLst>
              <p:tags r:id="rId7"/>
            </p:custDataLst>
          </p:nvPr>
        </p:nvSpPr>
        <p:spPr>
          <a:xfrm>
            <a:off x="8076873" y="2674594"/>
            <a:ext cx="2597957" cy="93328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20000"/>
              </a:lnSpc>
              <a:spcBef>
                <a:spcPts val="1000"/>
              </a:spcBef>
              <a:defRPr sz="1600">
                <a:solidFill>
                  <a:srgbClr val="4D4D4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>
            <p:custDataLst>
              <p:tags r:id="rId8"/>
            </p:custDataLst>
          </p:nvPr>
        </p:nvSpPr>
        <p:spPr>
          <a:xfrm>
            <a:off x="7864881" y="1034013"/>
            <a:ext cx="15168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dirty="0">
                <a:solidFill>
                  <a:srgbClr val="0036A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4800" dirty="0">
              <a:solidFill>
                <a:srgbClr val="0036A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9"/>
            </p:custDataLst>
          </p:nvPr>
        </p:nvCxnSpPr>
        <p:spPr>
          <a:xfrm>
            <a:off x="8880854" y="1470271"/>
            <a:ext cx="2161496" cy="0"/>
          </a:xfrm>
          <a:prstGeom prst="line">
            <a:avLst/>
          </a:prstGeom>
          <a:ln w="19050">
            <a:solidFill>
              <a:srgbClr val="032D7A"/>
            </a:solidFill>
            <a:prstDash val="dash"/>
            <a:headEnd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"/>
          <p:cNvSpPr/>
          <p:nvPr>
            <p:custDataLst>
              <p:tags r:id="rId10"/>
            </p:custDataLst>
          </p:nvPr>
        </p:nvSpPr>
        <p:spPr>
          <a:xfrm>
            <a:off x="1036320" y="4998720"/>
            <a:ext cx="2995295" cy="9334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20000"/>
              </a:lnSpc>
              <a:spcBef>
                <a:spcPts val="1000"/>
              </a:spcBef>
              <a:defRPr sz="1600">
                <a:solidFill>
                  <a:srgbClr val="4D4D4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>
                <a:solidFill>
                  <a:srgbClr val="0F1115"/>
                </a:solidFill>
                <a:latin typeface="quote-cjk-patch"/>
                <a:ea typeface="quote-cjk-patch"/>
                <a:sym typeface="Arial" panose="020B0604020202020204" pitchFamily="34" charset="0"/>
              </a:rPr>
              <a:t>调用currentStateFunc执行当前逻辑，并根据其返回值更新 currentStateFunc，实现</a:t>
            </a:r>
            <a:r>
              <a:rPr lang="zh-CN" altLang="en-US" sz="1800" b="1">
                <a:solidFill>
                  <a:srgbClr val="0F1115"/>
                </a:solidFill>
                <a:latin typeface="quote-cjk-patch"/>
                <a:ea typeface="quote-cjk-patch"/>
                <a:sym typeface="Arial" panose="020B0604020202020204" pitchFamily="34" charset="0"/>
              </a:rPr>
              <a:t>状态切换</a:t>
            </a:r>
            <a:r>
              <a:rPr lang="zh-CN" altLang="en-US" sz="1800">
                <a:solidFill>
                  <a:srgbClr val="0F1115"/>
                </a:solidFill>
                <a:latin typeface="quote-cjk-patch"/>
                <a:ea typeface="quote-cjk-patch"/>
                <a:sym typeface="Arial" panose="020B0604020202020204" pitchFamily="34" charset="0"/>
              </a:rPr>
              <a:t>。</a:t>
            </a: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1036320" y="3608070"/>
            <a:ext cx="1652270" cy="10807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06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12"/>
            </p:custDataLst>
          </p:nvPr>
        </p:nvCxnSpPr>
        <p:spPr>
          <a:xfrm flipH="1">
            <a:off x="2035119" y="3972720"/>
            <a:ext cx="2161496" cy="0"/>
          </a:xfrm>
          <a:prstGeom prst="line">
            <a:avLst/>
          </a:prstGeom>
          <a:ln w="19050">
            <a:solidFill>
              <a:srgbClr val="032D7A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"/>
          <p:cNvSpPr/>
          <p:nvPr>
            <p:custDataLst>
              <p:tags r:id="rId13"/>
            </p:custDataLst>
          </p:nvPr>
        </p:nvSpPr>
        <p:spPr>
          <a:xfrm>
            <a:off x="4375150" y="4998720"/>
            <a:ext cx="3005455" cy="10102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20000"/>
              </a:lnSpc>
              <a:spcBef>
                <a:spcPts val="1000"/>
              </a:spcBef>
              <a:defRPr sz="1600">
                <a:solidFill>
                  <a:srgbClr val="4D4D4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18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状态驱动</a:t>
            </a:r>
            <a:r>
              <a:rPr lang="zh-CN" altLang="en-US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：主循环通过一个函数指针 currentStateFunc 指向当前正在执行的系统逻辑函数。</a:t>
            </a:r>
            <a:endParaRPr lang="zh-CN" altLang="en-US" sz="18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algn="l">
              <a:lnSpc>
                <a:spcPct val="150000"/>
              </a:lnSpc>
            </a:pPr>
            <a:endParaRPr lang="zh-CN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>
            <p:custDataLst>
              <p:tags r:id="rId14"/>
            </p:custDataLst>
          </p:nvPr>
        </p:nvSpPr>
        <p:spPr>
          <a:xfrm>
            <a:off x="4450715" y="3601085"/>
            <a:ext cx="1463040" cy="8293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4800" dirty="0">
                <a:solidFill>
                  <a:srgbClr val="0036A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05</a:t>
            </a:r>
            <a:endParaRPr lang="zh-CN" altLang="en-US" sz="4800" dirty="0">
              <a:solidFill>
                <a:srgbClr val="0036A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4" name="文本框"/>
          <p:cNvCxnSpPr/>
          <p:nvPr>
            <p:custDataLst>
              <p:tags r:id="rId15"/>
            </p:custDataLst>
          </p:nvPr>
        </p:nvCxnSpPr>
        <p:spPr>
          <a:xfrm flipH="1">
            <a:off x="5500214" y="3972720"/>
            <a:ext cx="2161496" cy="0"/>
          </a:xfrm>
          <a:prstGeom prst="line">
            <a:avLst/>
          </a:prstGeom>
          <a:ln w="19050">
            <a:solidFill>
              <a:srgbClr val="032D7A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"/>
          <p:cNvSpPr/>
          <p:nvPr>
            <p:custDataLst>
              <p:tags r:id="rId16"/>
            </p:custDataLst>
          </p:nvPr>
        </p:nvSpPr>
        <p:spPr>
          <a:xfrm>
            <a:off x="7992745" y="4688840"/>
            <a:ext cx="3597275" cy="9334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defTabSz="584200">
              <a:lnSpc>
                <a:spcPct val="120000"/>
              </a:lnSpc>
              <a:spcBef>
                <a:spcPts val="1000"/>
              </a:spcBef>
              <a:defRPr sz="1600">
                <a:solidFill>
                  <a:srgbClr val="4D4D4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定义接口</a:t>
            </a:r>
            <a:r>
              <a:rPr lang="zh-CN" altLang="en-US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：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所有系统逻辑函数都统一使用签名</a:t>
            </a:r>
            <a:r>
              <a:rPr lang="en-US" altLang="zh-CN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 </a:t>
            </a:r>
            <a:r>
              <a:rPr lang="en-US" altLang="zh-CN" sz="18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GameState func(GameContext*)</a:t>
            </a:r>
            <a:r>
              <a:rPr lang="zh-CN" altLang="en-US" sz="18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，函数执行后返回下一个状态的枚举值</a:t>
            </a:r>
            <a:r>
              <a:rPr lang="zh-CN" altLang="en-US" sz="1200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17"/>
            </p:custDataLst>
          </p:nvPr>
        </p:nvSpPr>
        <p:spPr>
          <a:xfrm>
            <a:off x="7944891" y="3607582"/>
            <a:ext cx="15168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04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8"/>
            </p:custDataLst>
          </p:nvPr>
        </p:nvCxnSpPr>
        <p:spPr>
          <a:xfrm flipH="1">
            <a:off x="8965309" y="4032410"/>
            <a:ext cx="2161496" cy="0"/>
          </a:xfrm>
          <a:prstGeom prst="line">
            <a:avLst/>
          </a:prstGeom>
          <a:ln w="19050">
            <a:solidFill>
              <a:srgbClr val="032D7A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9"/>
            </p:custDataLst>
          </p:nvPr>
        </p:nvCxnSpPr>
        <p:spPr>
          <a:xfrm>
            <a:off x="11092771" y="1506466"/>
            <a:ext cx="17145" cy="2553970"/>
          </a:xfrm>
          <a:prstGeom prst="line">
            <a:avLst/>
          </a:prstGeom>
          <a:ln w="19050">
            <a:solidFill>
              <a:srgbClr val="032D7A"/>
            </a:solidFill>
            <a:prstDash val="dash"/>
            <a:headEnd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945120" y="1725295"/>
            <a:ext cx="30968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统一访问：</a:t>
            </a:r>
          </a:p>
          <a:p>
            <a:r>
              <a:rPr lang="zh-CN" altLang="en-US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每人编写的函数都通过传入的</a:t>
            </a:r>
            <a:r>
              <a:rPr lang="en-US" altLang="zh-CN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 </a:t>
            </a:r>
            <a:r>
              <a:rPr lang="en-US" altLang="zh-CN">
                <a:solidFill>
                  <a:srgbClr val="0F1115"/>
                </a:solidFill>
                <a:latin typeface="Menlo"/>
                <a:ea typeface="Menlo"/>
                <a:sym typeface="+mn-ea"/>
              </a:rPr>
              <a:t>GameContext*</a:t>
            </a:r>
            <a:r>
              <a:rPr lang="en-US" altLang="zh-CN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 </a:t>
            </a:r>
            <a:r>
              <a:rPr lang="zh-CN" altLang="en-US">
                <a:solidFill>
                  <a:srgbClr val="0F1115"/>
                </a:solidFill>
                <a:latin typeface="quote-cjk-patch"/>
                <a:ea typeface="quote-cjk-patch"/>
                <a:sym typeface="+mn-ea"/>
              </a:rPr>
              <a:t>参数访问数据，可跨模块读写。</a:t>
            </a:r>
            <a:endParaRPr lang="zh-CN" altLang="en-US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570095" y="215900"/>
            <a:ext cx="3052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项目设计与实现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322695" y="11258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common.h</a:t>
            </a:r>
            <a:r>
              <a:rPr lang="zh-CN" altLang="en-US" sz="2800"/>
              <a:t>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6295"/>
          <a:stretch>
            <a:fillRect/>
          </a:stretch>
        </p:blipFill>
        <p:spPr>
          <a:xfrm>
            <a:off x="689610" y="2240280"/>
            <a:ext cx="5405755" cy="35953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9610" y="119761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/>
              <a:t>main.h: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695" y="2040890"/>
            <a:ext cx="5616575" cy="3994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570095" y="215900"/>
            <a:ext cx="3052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项目设计与实现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4805" y="35623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/>
              <a:t>bag+shop</a:t>
            </a:r>
            <a:r>
              <a:rPr lang="zh-CN" altLang="en-US" sz="3200"/>
              <a:t>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06730" y="4397375"/>
            <a:ext cx="801497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initialize_skills()  </a:t>
            </a:r>
            <a:r>
              <a:rPr lang="zh-CN" altLang="en-US"/>
              <a:t>初始化</a:t>
            </a:r>
            <a:r>
              <a:rPr lang="en-US" altLang="zh-CN"/>
              <a:t>6</a:t>
            </a:r>
            <a:r>
              <a:rPr lang="zh-CN" altLang="en-US"/>
              <a:t>个技能；</a:t>
            </a:r>
            <a:r>
              <a:rPr lang="en-US" altLang="zh-CN" b="1"/>
              <a:t>show_shop()  </a:t>
            </a:r>
            <a:r>
              <a:rPr lang="zh-CN" altLang="en-US"/>
              <a:t>呈现商店商品；</a:t>
            </a:r>
          </a:p>
          <a:p>
            <a:r>
              <a:rPr lang="en-US" altLang="zh-CN" b="1"/>
              <a:t>buy_item()</a:t>
            </a:r>
            <a:r>
              <a:rPr lang="en-US" altLang="zh-CN" b="1">
                <a:sym typeface="+mn-ea"/>
              </a:rPr>
              <a:t>sell_item()  </a:t>
            </a:r>
            <a:r>
              <a:rPr lang="zh-CN" altLang="en-US"/>
              <a:t>购买出售道具</a:t>
            </a:r>
            <a:r>
              <a:rPr lang="en-US" altLang="zh-CN" b="1"/>
              <a:t>choose_starter_pokemon()  </a:t>
            </a:r>
            <a:r>
              <a:rPr lang="zh-CN" altLang="en-US"/>
              <a:t>选择宝可梦；</a:t>
            </a:r>
          </a:p>
          <a:p>
            <a:r>
              <a:rPr lang="en-US" altLang="zh-CN" b="1"/>
              <a:t>init_pokemon_game()  </a:t>
            </a:r>
            <a:r>
              <a:rPr lang="zh-CN" altLang="en-US"/>
              <a:t>初始化游戏数据；</a:t>
            </a:r>
            <a:r>
              <a:rPr lang="en-US" altLang="zh-CN" b="1"/>
              <a:t>add_loot()  </a:t>
            </a:r>
            <a:r>
              <a:rPr lang="zh-CN" altLang="en-US"/>
              <a:t>添加宝可梦或道具；</a:t>
            </a:r>
          </a:p>
          <a:p>
            <a:r>
              <a:rPr lang="en-US" altLang="zh-CN" b="1"/>
              <a:t>select_active_pokemon()  </a:t>
            </a:r>
            <a:r>
              <a:rPr lang="zh-CN" altLang="en-US"/>
              <a:t>指定出战宝可梦；</a:t>
            </a:r>
          </a:p>
          <a:p>
            <a:r>
              <a:rPr lang="en-US" altLang="zh-CN" b="1"/>
              <a:t>use_poke_item()  </a:t>
            </a:r>
            <a:r>
              <a:rPr lang="zh-CN" altLang="en-US"/>
              <a:t>使用道具</a:t>
            </a:r>
            <a:r>
              <a:rPr lang="en-US" altLang="zh-CN"/>
              <a:t>;</a:t>
            </a:r>
            <a:r>
              <a:rPr lang="en-US" altLang="zh-CN" b="1"/>
              <a:t>select_skills_for_pokemon()  </a:t>
            </a:r>
            <a:r>
              <a:rPr lang="zh-CN" altLang="en-US"/>
              <a:t>选择技能；</a:t>
            </a:r>
          </a:p>
          <a:p>
            <a:r>
              <a:rPr lang="en-US" altLang="zh-CN" b="1"/>
              <a:t>show_shop_inventory()  </a:t>
            </a:r>
            <a:r>
              <a:rPr lang="zh-CN" altLang="en-US"/>
              <a:t>提供交互式背包管理菜单；</a:t>
            </a:r>
          </a:p>
          <a:p>
            <a:r>
              <a:rPr lang="en-US" altLang="zh-CN" b="1"/>
              <a:t>thunder_effect()  </a:t>
            </a:r>
            <a:r>
              <a:rPr lang="zh-CN" altLang="en-US"/>
              <a:t>模拟技能特效；实现背包和商店系统选择。</a:t>
            </a:r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4" name="图片 3" descr="WPS图片(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39520" y="901065"/>
            <a:ext cx="6234430" cy="34963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25363"/>
          <a:stretch>
            <a:fillRect/>
          </a:stretch>
        </p:blipFill>
        <p:spPr>
          <a:xfrm>
            <a:off x="8521700" y="356235"/>
            <a:ext cx="2971165" cy="61106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570095" y="215900"/>
            <a:ext cx="3052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项目设计与实现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06095" y="105727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主菜单</a:t>
            </a:r>
            <a:r>
              <a:rPr lang="en-US" altLang="zh-CN" sz="2800"/>
              <a:t>  </a:t>
            </a:r>
            <a:r>
              <a:rPr lang="zh-CN" altLang="en-US" sz="2800"/>
              <a:t>主要函数：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950" y="1579245"/>
            <a:ext cx="5761355" cy="39954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6135" y="2344420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drawMainMenu</a:t>
            </a:r>
            <a:r>
              <a:rPr lang="en-US" altLang="zh-CN" b="1" dirty="0"/>
              <a:t>() </a:t>
            </a:r>
            <a:r>
              <a:rPr lang="en-US" altLang="zh-CN" dirty="0"/>
              <a:t> </a:t>
            </a:r>
            <a:r>
              <a:rPr lang="zh-CN" altLang="en-US" dirty="0"/>
              <a:t>主菜单显示</a:t>
            </a:r>
            <a:endParaRPr lang="en-US" altLang="zh-CN" dirty="0"/>
          </a:p>
          <a:p>
            <a:r>
              <a:rPr lang="en-US" altLang="zh-CN" b="1" dirty="0" err="1"/>
              <a:t>drawInstructions</a:t>
            </a:r>
            <a:r>
              <a:rPr lang="en-US" altLang="zh-CN" b="1" dirty="0"/>
              <a:t> () </a:t>
            </a:r>
            <a:r>
              <a:rPr lang="zh-CN" altLang="en-US" dirty="0"/>
              <a:t>说明界面</a:t>
            </a:r>
          </a:p>
          <a:p>
            <a:r>
              <a:rPr lang="en-US" altLang="zh-CN" b="1" dirty="0" err="1"/>
              <a:t>handleMenuInput</a:t>
            </a:r>
            <a:r>
              <a:rPr lang="en-US" altLang="zh-CN" b="1" dirty="0"/>
              <a:t> () </a:t>
            </a:r>
            <a:r>
              <a:rPr lang="zh-CN" altLang="en-US" dirty="0"/>
              <a:t>菜单输入</a:t>
            </a:r>
          </a:p>
          <a:p>
            <a:r>
              <a:rPr lang="en-US" altLang="zh-CN" b="1" dirty="0" err="1"/>
              <a:t>handleInstructionsInput</a:t>
            </a:r>
            <a:r>
              <a:rPr lang="en-US" altLang="zh-CN" b="1" dirty="0"/>
              <a:t> () </a:t>
            </a:r>
            <a:r>
              <a:rPr lang="zh-CN" altLang="en-US" dirty="0"/>
              <a:t>说明返回</a:t>
            </a:r>
          </a:p>
          <a:p>
            <a:r>
              <a:rPr lang="en-US" altLang="zh-CN" b="1" dirty="0"/>
              <a:t>main()     </a:t>
            </a:r>
            <a:r>
              <a:rPr lang="zh-CN" altLang="en-US" dirty="0"/>
              <a:t>程序主循环</a:t>
            </a:r>
          </a:p>
          <a:p>
            <a:r>
              <a:rPr lang="en-US" altLang="zh-CN" b="1" dirty="0"/>
              <a:t>system()  </a:t>
            </a:r>
            <a:r>
              <a:rPr lang="zh-CN" altLang="en-US" dirty="0"/>
              <a:t>清屏控制</a:t>
            </a:r>
          </a:p>
          <a:p>
            <a:r>
              <a:rPr lang="en-US" altLang="zh-CN" b="1" dirty="0" err="1"/>
              <a:t>getch</a:t>
            </a:r>
            <a:r>
              <a:rPr lang="en-US" altLang="zh-CN" b="1" dirty="0"/>
              <a:t>()    </a:t>
            </a:r>
            <a:r>
              <a:rPr lang="zh-CN" altLang="en-US" dirty="0"/>
              <a:t>按键读取</a:t>
            </a:r>
          </a:p>
          <a:p>
            <a:r>
              <a:rPr lang="en-US" altLang="zh-CN" b="1" dirty="0"/>
              <a:t>Sleep()    </a:t>
            </a:r>
            <a:r>
              <a:rPr lang="zh-CN" altLang="en-US" dirty="0"/>
              <a:t>延时停留</a:t>
            </a:r>
          </a:p>
          <a:p>
            <a:r>
              <a:rPr lang="en-US" altLang="zh-CN" b="1" dirty="0" err="1"/>
              <a:t>SetConsoleOutputCP</a:t>
            </a:r>
            <a:r>
              <a:rPr lang="en-US" altLang="zh-CN" b="1" dirty="0"/>
              <a:t>() </a:t>
            </a:r>
            <a:r>
              <a:rPr lang="zh-CN" altLang="en-US" dirty="0"/>
              <a:t>编码设置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570095" y="215900"/>
            <a:ext cx="3052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项目设计与实现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06095" y="105727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story.c </a:t>
            </a:r>
            <a:r>
              <a:rPr lang="zh-CN" altLang="en-US" sz="2800"/>
              <a:t>主要函数：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53770" y="1960245"/>
          <a:ext cx="10485120" cy="3017520"/>
        </p:xfrm>
        <a:graphic>
          <a:graphicData uri="http://schemas.openxmlformats.org/drawingml/2006/table">
            <a:tbl>
              <a:tblPr/>
              <a:tblGrid>
                <a:gridCol w="524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print_story_text  </a:t>
                      </a:r>
                      <a:r>
                        <a:rPr lang="zh-CN" altLang="en-US" sz="1800">
                          <a:sym typeface="+mn-ea"/>
                        </a:rPr>
                        <a:t>剧情</a:t>
                      </a:r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add_player_money  </a:t>
                      </a:r>
                      <a:r>
                        <a:rPr lang="zh-CN" altLang="en-US" sz="1800">
                          <a:sym typeface="+mn-ea"/>
                        </a:rPr>
                        <a:t>增加金币</a:t>
                      </a:r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stage_1  </a:t>
                      </a:r>
                      <a:r>
                        <a:rPr lang="zh-CN" altLang="en-US" sz="1800">
                          <a:sym typeface="+mn-ea"/>
                        </a:rPr>
                        <a:t>第一章结算</a:t>
                      </a:r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stage_5  </a:t>
                      </a:r>
                      <a:r>
                        <a:rPr lang="zh-CN" altLang="en-US" sz="1800">
                          <a:sym typeface="+mn-ea"/>
                        </a:rPr>
                        <a:t>终章结局</a:t>
                      </a:r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Dr_DaMu  </a:t>
                      </a:r>
                      <a:r>
                        <a:rPr lang="zh-CN" altLang="en-US" sz="1800">
                          <a:sym typeface="+mn-ea"/>
                        </a:rPr>
                        <a:t>博士剧情</a:t>
                      </a:r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Event_Caterpie</a:t>
                      </a:r>
                      <a:r>
                        <a:rPr lang="en-US" altLang="zh-CN" sz="1800" b="1">
                          <a:sym typeface="+mn-ea"/>
                        </a:rPr>
                        <a:t>Rocket  </a:t>
                      </a:r>
                      <a:r>
                        <a:rPr lang="zh-CN" altLang="en-US" sz="1800">
                          <a:sym typeface="+mn-ea"/>
                        </a:rPr>
                        <a:t>事件</a:t>
                      </a:r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story_2  </a:t>
                      </a:r>
                      <a:r>
                        <a:rPr lang="zh-CN" altLang="en-US" sz="1800">
                          <a:sym typeface="+mn-ea"/>
                        </a:rPr>
                        <a:t>第二章结算</a:t>
                      </a:r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XiaoGang  </a:t>
                      </a:r>
                      <a:r>
                        <a:rPr lang="zh-CN" altLang="en-US" sz="1800">
                          <a:sym typeface="+mn-ea"/>
                        </a:rPr>
                        <a:t>小刚剧情</a:t>
                      </a:r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endParaRPr lang="en-US" altLang="zh-CN" sz="18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800" b="1"/>
                        <a:t>show_story_progress </a:t>
                      </a:r>
                      <a:r>
                        <a:rPr lang="en-US" altLang="zh-CN" sz="1800" b="0"/>
                        <a:t>剧情进度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621D70A3-DB17-32E2-791E-531B9AA51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095" y="2247709"/>
            <a:ext cx="6827520" cy="29176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0" y="0"/>
            <a:ext cx="12192000" cy="877626"/>
            <a:chOff x="0" y="2153217"/>
            <a:chExt cx="12192000" cy="2501122"/>
          </a:xfrm>
        </p:grpSpPr>
        <p:sp>
          <p:nvSpPr>
            <p:cNvPr id="12" name="矩形: 圆角 11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570095" y="215900"/>
            <a:ext cx="3052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项目设计与实现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474017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58666" y="444491"/>
            <a:ext cx="959318" cy="0"/>
          </a:xfrm>
          <a:prstGeom prst="line">
            <a:avLst/>
          </a:prstGeom>
          <a:ln w="19050">
            <a:solidFill>
              <a:srgbClr val="003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54050" y="117094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fight  </a:t>
            </a:r>
            <a:r>
              <a:rPr lang="zh-CN" altLang="en-US" sz="2800"/>
              <a:t>主要函数：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90830" y="1866900"/>
            <a:ext cx="3844925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ym typeface="+mn-ea"/>
              </a:rPr>
              <a:t>尝试捕捉宝可梦：</a:t>
            </a:r>
            <a:endParaRPr lang="zh-CN" altLang="en-US"/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 b="1">
                <a:sym typeface="+mn-ea"/>
              </a:rPr>
              <a:t>try_capture_pokemon(ShopItem* ball_item, Pokemondata* target_pokemon) </a:t>
            </a:r>
            <a:endParaRPr lang="en-US" altLang="zh-CN" b="1"/>
          </a:p>
          <a:p>
            <a:r>
              <a:rPr lang="en-US" altLang="zh-CN" b="1"/>
              <a:t>start_battle</a:t>
            </a:r>
            <a:r>
              <a:rPr lang="zh-CN" altLang="en-US"/>
              <a:t>进入战斗</a:t>
            </a:r>
          </a:p>
          <a:p>
            <a:r>
              <a:rPr lang="en-US" altLang="zh-CN" b="1"/>
              <a:t>init_battle</a:t>
            </a:r>
            <a:r>
              <a:rPr lang="zh-CN" altLang="en-US"/>
              <a:t>战斗初始化</a:t>
            </a:r>
          </a:p>
          <a:p>
            <a:r>
              <a:rPr lang="en-US" altLang="zh-CN" b="1"/>
              <a:t>select_active_pokemon</a:t>
            </a:r>
            <a:r>
              <a:rPr lang="zh-CN" altLang="en-US"/>
              <a:t>选择出战</a:t>
            </a:r>
          </a:p>
          <a:p>
            <a:r>
              <a:rPr lang="en-US" altLang="zh-CN" b="1"/>
              <a:t>select_skills_for_pokemon</a:t>
            </a:r>
            <a:r>
              <a:rPr lang="zh-CN" altLang="en-US"/>
              <a:t>选择技能</a:t>
            </a:r>
          </a:p>
          <a:p>
            <a:r>
              <a:rPr lang="en-US" altLang="zh-CN" b="1"/>
              <a:t>player_turn</a:t>
            </a:r>
            <a:r>
              <a:rPr lang="zh-CN" altLang="en-US"/>
              <a:t>玩家回合</a:t>
            </a:r>
          </a:p>
          <a:p>
            <a:r>
              <a:rPr lang="en-US" altLang="zh-CN" b="1"/>
              <a:t>enemy_turn</a:t>
            </a:r>
            <a:r>
              <a:rPr lang="zh-CN" altLang="en-US"/>
              <a:t>敌方回合</a:t>
            </a:r>
          </a:p>
          <a:p>
            <a:r>
              <a:rPr lang="en-US" altLang="zh-CN" b="1"/>
              <a:t>calc_damage</a:t>
            </a:r>
            <a:r>
              <a:rPr lang="zh-CN" altLang="en-US"/>
              <a:t>伤害计算</a:t>
            </a:r>
          </a:p>
          <a:p>
            <a:r>
              <a:rPr lang="en-US" altLang="zh-CN" b="1"/>
              <a:t>apply_skill_effect</a:t>
            </a:r>
            <a:r>
              <a:rPr lang="zh-CN" altLang="en-US"/>
              <a:t>技能效果</a:t>
            </a:r>
          </a:p>
          <a:p>
            <a:r>
              <a:rPr lang="en-US" altLang="zh-CN" b="1"/>
              <a:t>check_battle_end：</a:t>
            </a:r>
            <a:r>
              <a:rPr lang="zh-CN" altLang="en-US"/>
              <a:t>胜负判定</a:t>
            </a:r>
          </a:p>
          <a:p>
            <a:r>
              <a:rPr lang="en-US" altLang="zh-CN" b="1"/>
              <a:t>end_battle</a:t>
            </a:r>
            <a:r>
              <a:rPr lang="zh-CN" altLang="en-US"/>
              <a:t>战斗结算</a:t>
            </a:r>
          </a:p>
          <a:p>
            <a:r>
              <a:rPr lang="en-US" altLang="zh-CN"/>
              <a:t> 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7136"/>
          <a:stretch>
            <a:fillRect/>
          </a:stretch>
        </p:blipFill>
        <p:spPr>
          <a:xfrm>
            <a:off x="7698105" y="1754505"/>
            <a:ext cx="3924935" cy="474599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799070" y="877570"/>
            <a:ext cx="406400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ym typeface="+mn-ea"/>
              </a:rPr>
              <a:t>与其他系统共享数据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135755" y="1015365"/>
            <a:ext cx="406400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setUTF8</a:t>
            </a:r>
          </a:p>
          <a:p>
            <a:r>
              <a:rPr lang="zh-CN" altLang="en-US"/>
              <a:t>功能：控制台编码初始化</a:t>
            </a:r>
            <a:endParaRPr lang="en-US" altLang="zh-CN"/>
          </a:p>
          <a:p>
            <a:r>
              <a:rPr lang="en-US" altLang="zh-CN"/>
              <a:t>load_all</a:t>
            </a:r>
          </a:p>
          <a:p>
            <a:r>
              <a:rPr lang="zh-CN" altLang="en-US"/>
              <a:t>功能：加载战斗数据</a:t>
            </a:r>
            <a:endParaRPr lang="en-US" altLang="zh-CN"/>
          </a:p>
          <a:p>
            <a:r>
              <a:rPr lang="en-US" altLang="zh-CN"/>
              <a:t>get_type_multiplier</a:t>
            </a:r>
          </a:p>
          <a:p>
            <a:r>
              <a:rPr lang="zh-CN" altLang="en-US"/>
              <a:t>功能：属性克制计算</a:t>
            </a:r>
            <a:endParaRPr lang="en-US" altLang="zh-CN"/>
          </a:p>
          <a:p>
            <a:r>
              <a:rPr lang="en-US" altLang="zh-CN"/>
              <a:t>hit_check</a:t>
            </a:r>
          </a:p>
          <a:p>
            <a:r>
              <a:rPr lang="zh-CN" altLang="en-US"/>
              <a:t>功能：命中判定</a:t>
            </a:r>
            <a:endParaRPr lang="en-US" altLang="zh-CN"/>
          </a:p>
          <a:p>
            <a:r>
              <a:rPr lang="en-US" altLang="zh-CN"/>
              <a:t>crit_check</a:t>
            </a:r>
          </a:p>
          <a:p>
            <a:r>
              <a:rPr lang="zh-CN" altLang="en-US"/>
              <a:t>功能：暴击判定</a:t>
            </a:r>
            <a:endParaRPr lang="en-US" altLang="zh-CN"/>
          </a:p>
          <a:p>
            <a:r>
              <a:rPr lang="en-US" altLang="zh-CN"/>
              <a:t>calc_damage</a:t>
            </a:r>
          </a:p>
          <a:p>
            <a:r>
              <a:rPr lang="zh-CN" altLang="en-US"/>
              <a:t>功能：伤害计算</a:t>
            </a:r>
          </a:p>
          <a:p>
            <a:r>
              <a:rPr lang="en-US" altLang="zh-CN"/>
              <a:t>ply_status_effect</a:t>
            </a:r>
          </a:p>
          <a:p>
            <a:r>
              <a:rPr lang="zh-CN" altLang="en-US"/>
              <a:t>功能：状态持续结算</a:t>
            </a:r>
            <a:endParaRPr lang="en-US" altLang="zh-CN"/>
          </a:p>
          <a:p>
            <a:r>
              <a:rPr lang="en-US" altLang="zh-CN"/>
              <a:t>check_battle_end</a:t>
            </a:r>
          </a:p>
          <a:p>
            <a:r>
              <a:rPr lang="zh-CN" altLang="en-US"/>
              <a:t>功能：战斗结束判断</a:t>
            </a:r>
            <a:endParaRPr lang="en-US" altLang="zh-CN"/>
          </a:p>
          <a:p>
            <a:r>
              <a:rPr lang="en-US" altLang="zh-CN"/>
              <a:t>player_turn</a:t>
            </a:r>
          </a:p>
          <a:p>
            <a:r>
              <a:rPr lang="zh-CN" altLang="en-US"/>
              <a:t>功能：玩家回合控制</a:t>
            </a:r>
            <a:endParaRPr lang="en-US" altLang="zh-CN"/>
          </a:p>
          <a:p>
            <a:r>
              <a:rPr lang="en-US" altLang="zh-CN"/>
              <a:t>try_to_run</a:t>
            </a:r>
          </a:p>
          <a:p>
            <a:r>
              <a:rPr lang="zh-CN" altLang="en-US"/>
              <a:t>功能：逃跑判定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1536700"/>
            <a:ext cx="9810750" cy="43821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420E2A-B8E8-1026-5F1C-465776ABF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268" y="350520"/>
            <a:ext cx="5446378" cy="61569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3ECB72E-D794-3756-1FD1-67F29EBBC24E}"/>
              </a:ext>
            </a:extLst>
          </p:cNvPr>
          <p:cNvSpPr txBox="1"/>
          <p:nvPr/>
        </p:nvSpPr>
        <p:spPr>
          <a:xfrm>
            <a:off x="762000" y="1047750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地图系统 主要函数</a:t>
            </a:r>
          </a:p>
        </p:txBody>
      </p:sp>
    </p:spTree>
    <p:extLst>
      <p:ext uri="{BB962C8B-B14F-4D97-AF65-F5344CB8AC3E}">
        <p14:creationId xmlns:p14="http://schemas.microsoft.com/office/powerpoint/2010/main" val="840629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6B4F5B8-FB03-43BF-A659-916F4DB13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840" y="1725731"/>
            <a:ext cx="8420320" cy="28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37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r="116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5000"/>
                </a:schemeClr>
              </a:gs>
              <a:gs pos="86000">
                <a:schemeClr val="tx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2153217"/>
            <a:ext cx="12192000" cy="2501122"/>
            <a:chOff x="0" y="2153217"/>
            <a:chExt cx="12192000" cy="2501122"/>
          </a:xfrm>
        </p:grpSpPr>
        <p:sp>
          <p:nvSpPr>
            <p:cNvPr id="9" name="矩形: 圆角 8"/>
            <p:cNvSpPr/>
            <p:nvPr/>
          </p:nvSpPr>
          <p:spPr>
            <a:xfrm>
              <a:off x="0" y="2153217"/>
              <a:ext cx="12192000" cy="2501122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009120" y="2541069"/>
              <a:ext cx="182880" cy="1742169"/>
            </a:xfrm>
            <a:prstGeom prst="rect">
              <a:avLst/>
            </a:prstGeom>
            <a:solidFill>
              <a:srgbClr val="032D7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 flipH="1">
            <a:off x="2106328" y="1963391"/>
            <a:ext cx="3411258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03</a:t>
            </a:r>
            <a:endParaRPr lang="zh-CN" altLang="en-US" sz="199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6" name="文本框 2"/>
          <p:cNvSpPr txBox="1"/>
          <p:nvPr/>
        </p:nvSpPr>
        <p:spPr>
          <a:xfrm>
            <a:off x="5200918" y="2928517"/>
            <a:ext cx="660172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  <a:sym typeface="+mn-ea"/>
              </a:rPr>
              <a:t>测试效果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  <a:p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R" panose="00020600040101010101" pitchFamily="18" charset="-122"/>
              <a:ea typeface="阿里巴巴普惠体 R" panose="00020600040101010101" pitchFamily="18" charset="-122"/>
              <a:cs typeface="阿里巴巴普惠体 R" panose="00020600040101010101" pitchFamily="18" charset="-122"/>
            </a:endParaRPr>
          </a:p>
        </p:txBody>
      </p:sp>
      <p:sp>
        <p:nvSpPr>
          <p:cNvPr id="7" name="文本框 29"/>
          <p:cNvSpPr txBox="1"/>
          <p:nvPr/>
        </p:nvSpPr>
        <p:spPr>
          <a:xfrm>
            <a:off x="5200918" y="3810883"/>
            <a:ext cx="53023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阿里巴巴普惠体 R" panose="00020600040101010101" pitchFamily="18" charset="-122"/>
                <a:cs typeface="Arial" panose="020B0604020202020204" pitchFamily="34" charset="0"/>
              </a:rPr>
              <a:t>test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1" r="116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8128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5000"/>
                </a:schemeClr>
              </a:gs>
              <a:gs pos="86000">
                <a:schemeClr val="tx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0" y="2153217"/>
            <a:ext cx="12192000" cy="2501122"/>
          </a:xfrm>
          <a:prstGeom prst="roundRect">
            <a:avLst>
              <a:gd name="adj" fmla="val 0"/>
            </a:avLst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404134" y="2468380"/>
            <a:ext cx="738378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spc="-3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汇报完毕</a:t>
            </a:r>
            <a:r>
              <a:rPr lang="en-US" altLang="zh-CN" sz="6600" spc="-3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·</a:t>
            </a:r>
            <a:r>
              <a:rPr lang="zh-CN" altLang="en-US" sz="6600" spc="-3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rPr>
              <a:t>感谢聆听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4996932" y="3750027"/>
            <a:ext cx="2198136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/>
          <p:cNvSpPr/>
          <p:nvPr/>
        </p:nvSpPr>
        <p:spPr>
          <a:xfrm>
            <a:off x="4744720" y="5092700"/>
            <a:ext cx="2702560" cy="617220"/>
          </a:xfrm>
          <a:prstGeom prst="roundRect">
            <a:avLst>
              <a:gd name="adj" fmla="val 50000"/>
            </a:avLst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</a:rPr>
              <a:t>指导教师：夏金祥</a:t>
            </a:r>
          </a:p>
        </p:txBody>
      </p:sp>
      <p:sp>
        <p:nvSpPr>
          <p:cNvPr id="11" name="Freeform 5"/>
          <p:cNvSpPr/>
          <p:nvPr/>
        </p:nvSpPr>
        <p:spPr>
          <a:xfrm>
            <a:off x="4996932" y="606236"/>
            <a:ext cx="2198136" cy="12782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78" y="16267"/>
                </a:moveTo>
                <a:cubicBezTo>
                  <a:pt x="20978" y="15467"/>
                  <a:pt x="20823" y="14933"/>
                  <a:pt x="20357" y="14933"/>
                </a:cubicBezTo>
                <a:cubicBezTo>
                  <a:pt x="20357" y="7200"/>
                  <a:pt x="20357" y="7200"/>
                  <a:pt x="20357" y="7200"/>
                </a:cubicBezTo>
                <a:cubicBezTo>
                  <a:pt x="21600" y="6400"/>
                  <a:pt x="21600" y="6400"/>
                  <a:pt x="21600" y="6400"/>
                </a:cubicBezTo>
                <a:cubicBezTo>
                  <a:pt x="10878" y="0"/>
                  <a:pt x="10878" y="0"/>
                  <a:pt x="10878" y="0"/>
                </a:cubicBezTo>
                <a:cubicBezTo>
                  <a:pt x="0" y="6400"/>
                  <a:pt x="0" y="6400"/>
                  <a:pt x="0" y="6400"/>
                </a:cubicBezTo>
                <a:cubicBezTo>
                  <a:pt x="10878" y="12800"/>
                  <a:pt x="10878" y="12800"/>
                  <a:pt x="10878" y="12800"/>
                </a:cubicBezTo>
                <a:cubicBezTo>
                  <a:pt x="19735" y="7467"/>
                  <a:pt x="19735" y="7467"/>
                  <a:pt x="19735" y="7467"/>
                </a:cubicBezTo>
                <a:cubicBezTo>
                  <a:pt x="19735" y="14933"/>
                  <a:pt x="19735" y="14933"/>
                  <a:pt x="19735" y="14933"/>
                </a:cubicBezTo>
                <a:cubicBezTo>
                  <a:pt x="19424" y="14933"/>
                  <a:pt x="19114" y="15467"/>
                  <a:pt x="19114" y="16267"/>
                </a:cubicBezTo>
                <a:cubicBezTo>
                  <a:pt x="19114" y="16800"/>
                  <a:pt x="19424" y="17067"/>
                  <a:pt x="19580" y="17067"/>
                </a:cubicBezTo>
                <a:cubicBezTo>
                  <a:pt x="19114" y="21600"/>
                  <a:pt x="19114" y="21600"/>
                  <a:pt x="19114" y="21600"/>
                </a:cubicBezTo>
                <a:cubicBezTo>
                  <a:pt x="20978" y="21600"/>
                  <a:pt x="20978" y="21600"/>
                  <a:pt x="20978" y="21600"/>
                </a:cubicBezTo>
                <a:cubicBezTo>
                  <a:pt x="20512" y="17067"/>
                  <a:pt x="20512" y="17067"/>
                  <a:pt x="20512" y="17067"/>
                </a:cubicBezTo>
                <a:cubicBezTo>
                  <a:pt x="20823" y="17067"/>
                  <a:pt x="20978" y="16800"/>
                  <a:pt x="20978" y="16267"/>
                </a:cubicBezTo>
                <a:close/>
                <a:moveTo>
                  <a:pt x="4351" y="11200"/>
                </a:moveTo>
                <a:cubicBezTo>
                  <a:pt x="4351" y="18400"/>
                  <a:pt x="4351" y="18400"/>
                  <a:pt x="4351" y="18400"/>
                </a:cubicBezTo>
                <a:cubicBezTo>
                  <a:pt x="4351" y="20267"/>
                  <a:pt x="7304" y="21600"/>
                  <a:pt x="10878" y="21600"/>
                </a:cubicBezTo>
                <a:cubicBezTo>
                  <a:pt x="14296" y="21600"/>
                  <a:pt x="17249" y="20267"/>
                  <a:pt x="17249" y="18400"/>
                </a:cubicBezTo>
                <a:cubicBezTo>
                  <a:pt x="17249" y="11200"/>
                  <a:pt x="17249" y="11200"/>
                  <a:pt x="17249" y="11200"/>
                </a:cubicBezTo>
                <a:cubicBezTo>
                  <a:pt x="10878" y="14933"/>
                  <a:pt x="10878" y="14933"/>
                  <a:pt x="10878" y="14933"/>
                </a:cubicBezTo>
                <a:lnTo>
                  <a:pt x="4351" y="11200"/>
                </a:lnTo>
                <a:close/>
              </a:path>
            </a:pathLst>
          </a:custGeom>
          <a:solidFill>
            <a:schemeClr val="bg1"/>
          </a:solidFill>
          <a:ln w="7620" cap="flat">
            <a:noFill/>
            <a:prstDash val="solid"/>
            <a:miter/>
          </a:ln>
        </p:spPr>
        <p:txBody>
          <a:bodyPr wrap="square" lIns="91439" tIns="91439" rIns="91439" bIns="91439" numCol="1" anchor="t">
            <a:noAutofit/>
          </a:bodyPr>
          <a:lstStyle/>
          <a:p>
            <a:endParaRPr>
              <a:solidFill>
                <a:schemeClr val="bg1"/>
              </a:solidFill>
              <a:latin typeface="阿里巴巴普惠体 R" panose="00020600040101010101" pitchFamily="18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2541069"/>
            <a:ext cx="182880" cy="1742169"/>
          </a:xfrm>
          <a:prstGeom prst="rect">
            <a:avLst/>
          </a:prstGeom>
          <a:solidFill>
            <a:srgbClr val="032D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2009120" y="2541069"/>
            <a:ext cx="182880" cy="1742169"/>
          </a:xfrm>
          <a:prstGeom prst="rect">
            <a:avLst/>
          </a:prstGeom>
          <a:solidFill>
            <a:srgbClr val="032D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5015748031493,&quot;left&quot;:85.61055118110237,&quot;top&quot;:212.5,&quot;width&quot;:721.7962992125983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5015748031493,&quot;left&quot;:85.61055118110237,&quot;top&quot;:212.5,&quot;width&quot;:721.796299212598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5015748031493,&quot;left&quot;:85.61055118110237,&quot;top&quot;:212.5,&quot;width&quot;:721.7962992125983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5015748031493,&quot;left&quot;:85.61055118110237,&quot;top&quot;:212.5,&quot;width&quot;:721.796299212598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5015748031493,&quot;left&quot;:85.61055118110237,&quot;top&quot;:212.5,&quot;width&quot;:721.796299212598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3.65015748031493,&quot;left&quot;:85.61055118110237,&quot;top&quot;:212.5,&quot;width&quot;:721.796299212598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25070866141743,&quot;left&quot;:51.45,&quot;top&quot;:128.75,&quot;width&quot;:855.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25070866141743,&quot;left&quot;:51.45,&quot;top&quot;:128.75,&quot;width&quot;:855.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9.3,&quot;left&quot;:51.45,&quot;top&quot;:128.75,&quot;width&quot;:855.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9.3,&quot;left&quot;:51.45,&quot;top&quot;:128.75,&quot;width&quot;:855.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25070866141743,&quot;left&quot;:51.45,&quot;top&quot;:128.75,&quot;width&quot;:855.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25070866141743,&quot;left&quot;:51.45,&quot;top&quot;:128.75,&quot;width&quot;:855.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9.3,&quot;left&quot;:51.45,&quot;top&quot;:128.75,&quot;width&quot;:855.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25070866141743,&quot;left&quot;:51.45,&quot;top&quot;:128.75,&quot;width&quot;:855.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9.3,&quot;left&quot;:51.45,&quot;top&quot;:128.75,&quot;width&quot;:855.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9.3,&quot;left&quot;:51.45,&quot;top&quot;:128.75,&quot;width&quot;:855.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25070866141743,&quot;left&quot;:51.45,&quot;top&quot;:128.75,&quot;width&quot;:855.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25070866141743,&quot;left&quot;:51.45,&quot;top&quot;:128.75,&quot;width&quot;:855.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9.3,&quot;left&quot;:51.45,&quot;top&quot;:128.75,&quot;width&quot;:855.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9.3,&quot;left&quot;:51.45,&quot;top&quot;:128.75,&quot;width&quot;:855.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9.3,&quot;left&quot;:51.45,&quot;top&quot;:128.75,&quot;width&quot;:855.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4.5591338582677,&quot;left&quot;:113.05,&quot;top&quot;:174.85,&quot;width&quot;:810.897559055118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2040157480315,&quot;left&quot;:46.57968503937007,&quot;top&quot;:140.55062992125983,&quot;width&quot;:867.2734645669292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0.4496062992127,&quot;left&quot;:46.91472440944882,&quot;top&quot;:14.870787401574797,&quot;width&quot;:887.485275590551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0.4496062992127,&quot;left&quot;:46.91472440944882,&quot;top&quot;:14.870787401574797,&quot;width&quot;:887.485275590551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0.4496062992127,&quot;left&quot;:46.91472440944882,&quot;top&quot;:14.870787401574797,&quot;width&quot;:887.485275590551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0.4496062992127,&quot;left&quot;:46.91472440944882,&quot;top&quot;:14.870787401574797,&quot;width&quot;:887.485275590551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05992125984255,&quot;left&quot;:81.59771653543308,&quot;top&quot;:81.41834645669292,&quot;width&quot;:794.5286614173228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90.4496062992127,&quot;left&quot;:46.91472440944882,&quot;top&quot;:14.870787401574797,&quot;width&quot;:887.485275590551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5*142"/>
  <p:tag name="TABLE_ENDDRAG_RECT" val="67*200*825*14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999</Words>
  <Application>Microsoft Office PowerPoint</Application>
  <PresentationFormat>宽屏</PresentationFormat>
  <Paragraphs>144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Menlo</vt:lpstr>
      <vt:lpstr>quote-cjk-patch</vt:lpstr>
      <vt:lpstr>阿里巴巴普惠体 R</vt:lpstr>
      <vt:lpstr>等线</vt:lpstr>
      <vt:lpstr>等线 Light</vt:lpstr>
      <vt:lpstr>华文宋体</vt:lpstr>
      <vt:lpstr>宋体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juziuu</dc:creator>
  <cp:lastModifiedBy>gguodong@126.com</cp:lastModifiedBy>
  <cp:revision>10</cp:revision>
  <dcterms:created xsi:type="dcterms:W3CDTF">2025-12-16T06:09:55Z</dcterms:created>
  <dcterms:modified xsi:type="dcterms:W3CDTF">2025-12-21T16:09:20Z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KSOTemplateUUID">
    <vt:lpwstr>v1.0_mb_Ba8Y6+IcGQYWJacDJb14lA==</vt:lpwstr>
  </property>
  <property fmtid="{D5CDD505-2E9C-101B-9397-08002B2CF9AE}" pid="4" name="ICV">
    <vt:lpwstr>95F1991615A8433C9CF4C7490D03075A_13</vt:lpwstr>
  </property>
</Properties>
</file>